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Judges, we are team AURA-X: Soham Vinchu, Nishita Patil, Vedant Mali, and Bhakti Sonawane. Today's robots face a critical problem: connecting motor control to cloud AI causes robots to crash when networks drop. AURA-X solves this: high-level AI plans missions, while onboard FreeRTOS guarantees zero-latency safety over dual-band LoRa and Wi-Fi.</a:t>
            </a:r>
          </a:p>
          <a:p/>
          <a:p>
            <a:r>
              <a:t>=== KEY WINNING POINT ===</a:t>
            </a:r>
          </a:p>
          <a:p>
            <a:r>
              <a:t>AURA-X bridges generative AI with deterministic physical safety on an asymmetric dual-band architecture.</a:t>
            </a:r>
          </a:p>
          <a:p/>
          <a:p>
            <a:r>
              <a:t>=== TRANSITION ===</a:t>
            </a:r>
          </a:p>
          <a:p>
            <a:r>
              <a:t>Let's look at the real-world problem that makes current robots fail.</a:t>
            </a:r>
          </a:p>
          <a:p/>
          <a:p>
            <a:r>
              <a:t>=== Q&amp;A DEFENSE FOR JUDGES ===</a:t>
            </a:r>
          </a:p>
          <a:p>
            <a:r>
              <a:t>Be ready to state roles: Soham on FreeRTOS/firmware, Nishita on LoRa/RF, Vedant on Vision/API, Bhakti on safety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When an earthquake hits or a pipeline leaks, sending humans inside is life-threatening. Existing robots fail for two fundamental reasons: Wi-Fi dies within 15 meters in concrete, and cloud AI latency is 1 to 3 seconds—meaning the robot crashes before the cloud even knows a wall exists.</a:t>
            </a:r>
          </a:p>
          <a:p/>
          <a:p>
            <a:r>
              <a:t>=== KEY WINNING POINT ===</a:t>
            </a:r>
          </a:p>
          <a:p>
            <a:r>
              <a:t>Traditional robots fail because Wi-Fi cannot penetrate rubble, and cloud latency cannot guarantee physical safety.</a:t>
            </a:r>
          </a:p>
          <a:p/>
          <a:p>
            <a:r>
              <a:t>=== TRANSITION ===</a:t>
            </a:r>
          </a:p>
          <a:p>
            <a:r>
              <a:t>Now let us see how existing market solutions compare.</a:t>
            </a:r>
          </a:p>
          <a:p/>
          <a:p>
            <a:r>
              <a:t>=== Q&amp;A DEFENSE FOR JUDGES ===</a:t>
            </a:r>
          </a:p>
          <a:p>
            <a:r>
              <a:t>Emphasize the physics: 2.4 GHz Wi-Fi attenuates 10-20 dB per wall. 433 MHz LoRa penetrates significantly deeper.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Look at the competitive matrix. Consumer RC cars have zero autonomy. Cloud IoT bots crash when latency spikes. Industrial robots like Boston Dynamics cost thirty thousand dollars. AURA-X provides a superior fourth model: dual-band RF, zero control latency, 5-tier fail-safe autonomy, and schema-bounded AI.</a:t>
            </a:r>
          </a:p>
          <a:p/>
          <a:p>
            <a:r>
              <a:t>=== KEY WINNING POINT ===</a:t>
            </a:r>
          </a:p>
          <a:p>
            <a:r>
              <a:t>AURA-X fills the critical gap between toy hackathon robots and unaffordable industrial rovers.</a:t>
            </a:r>
          </a:p>
          <a:p/>
          <a:p>
            <a:r>
              <a:t>=== TRANSITION ===</a:t>
            </a:r>
          </a:p>
          <a:p>
            <a:r>
              <a:t>Now let us see how our decoupled control architecture actually works.</a:t>
            </a:r>
          </a:p>
          <a:p/>
          <a:p>
            <a:r>
              <a:t>=== Q&amp;A DEFENSE FOR JUDGES ===</a:t>
            </a:r>
          </a:p>
          <a:p>
            <a:r>
              <a:t>Highlight that AURA-X separates video from control packets so link loss never stops the rover from braking.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Here are our four pillars. First: deterministic edge safety via FreeRTOS. Second: asymmetric dual-band RF where Wi-Fi carries video and 433 MHz LoRa carries control. Third: schema-constrained AI where GPT-4o Vision is strictly advisory. And fourth: 5-tier graceful failover. If cloud or Wi-Fi drops, the rover stays completely safe and operational.</a:t>
            </a:r>
          </a:p>
          <a:p/>
          <a:p>
            <a:r>
              <a:t>=== KEY WINNING POINT ===</a:t>
            </a:r>
          </a:p>
          <a:p>
            <a:r>
              <a:t>The AI proposes high-level intent; the onboard firmware enforces physical safety.</a:t>
            </a:r>
          </a:p>
          <a:p/>
          <a:p>
            <a:r>
              <a:t>=== TRANSITION ===</a:t>
            </a:r>
          </a:p>
          <a:p>
            <a:r>
              <a:t>Let's inspect the system architecture diagram that separates these subsystems.</a:t>
            </a:r>
          </a:p>
          <a:p/>
          <a:p>
            <a:r>
              <a:t>=== Q&amp;A DEFENSE FOR JUDGES ===</a:t>
            </a:r>
          </a:p>
          <a:p>
            <a:r>
              <a:t>Explain that command leases (0.5 to 1.5 seconds) automatically stop the motors if communication drops.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Look at Figure 1. We physically separated the main ESP32 from the ESP32-CAM. Video processing draws high memory and CPU. If the camera freezes, the main ESP32 keeps driving, braking, and sending LoRa telemetry without missing a millisecond.</a:t>
            </a:r>
          </a:p>
          <a:p/>
          <a:p>
            <a:r>
              <a:t>=== KEY WINNING POINT ===</a:t>
            </a:r>
          </a:p>
          <a:p>
            <a:r>
              <a:t>Physical isolation between vision processing and motor actuation guarantees that video congestion never starves motor safety.</a:t>
            </a:r>
          </a:p>
          <a:p/>
          <a:p>
            <a:r>
              <a:t>=== TRANSITION ===</a:t>
            </a:r>
          </a:p>
          <a:p>
            <a:r>
              <a:t>Now let's examine the 5-stage execution loop and the real-time state machine.</a:t>
            </a:r>
          </a:p>
          <a:p/>
          <a:p>
            <a:r>
              <a:t>=== Q&amp;A DEFENSE FOR JUDGES ===</a:t>
            </a:r>
          </a:p>
          <a:p>
            <a:r>
              <a:t>Explain that separate buck converters power the 5V camera and 3.3V LoRa logic to prevent motor startup brownouts.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Here is our 5-step operational loop. The human operator sets a mission. The gateway queries GPT-4o Vision, which suggests an action. That action is filtered through an allowlist, bounded by a 1.0-second lease, and checked against the ultrasonic sensor. If an obstacle is within 28 centimeters, the command is vetoed. As shown in the state machine on the right, any fault latches immediately into SAFE_STOP.</a:t>
            </a:r>
          </a:p>
          <a:p/>
          <a:p>
            <a:r>
              <a:t>=== KEY WINNING POINT ===</a:t>
            </a:r>
          </a:p>
          <a:p>
            <a:r>
              <a:t>Every motor command is lease-bounded, allowlisted, and clearance-checked before motors engage.</a:t>
            </a:r>
          </a:p>
          <a:p/>
          <a:p>
            <a:r>
              <a:t>=== TRANSITION ===</a:t>
            </a:r>
          </a:p>
          <a:p>
            <a:r>
              <a:t>Next, let's examine our hero prototype visual.</a:t>
            </a:r>
          </a:p>
          <a:p/>
          <a:p>
            <a:r>
              <a:t>=== Q&amp;A DEFENSE FOR JUDGES ===</a:t>
            </a:r>
          </a:p>
          <a:p>
            <a:r>
              <a:t>Emphasize the lease mechanism: the rover never receives an open-ended command. It receives short, bounded primitives with a strict 1-second timeout.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Here is the AURA-X concept prototype. To be completely honest with the judges: this 3D visual represents our mechanical packaging benchmark. On top is the vision mast with the ESP32-CAM and LED floodlights. Behind it is our dual-antenna array: 433 MHz LoRa and Wi-Fi. In front is our ultrasonic array. Every single circuit and MCU module here has been bench-tested and verified.</a:t>
            </a:r>
          </a:p>
          <a:p/>
          <a:p>
            <a:r>
              <a:t>=== KEY WINNING POINT ===</a:t>
            </a:r>
          </a:p>
          <a:p>
            <a:r>
              <a:t>The conceptual prototype embodies our modular physical architecture, designed for durability and rapid field maintenance.</a:t>
            </a:r>
          </a:p>
          <a:p/>
          <a:p>
            <a:r>
              <a:t>=== TRANSITION ===</a:t>
            </a:r>
          </a:p>
          <a:p>
            <a:r>
              <a:t>Let's look at the RF engineering that keeps this rover connected in concrete rubble.</a:t>
            </a:r>
          </a:p>
          <a:p/>
          <a:p>
            <a:r>
              <a:t>=== Q&amp;A DEFENSE FOR JUDGES ===</a:t>
            </a:r>
          </a:p>
          <a:p>
            <a:r>
              <a:t>Reiterate that the prototype uses off-the-shelf components that can be rapidly replaced in the field.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Most student teams make the fatal mistake of putting everything on Wi-Fi. In concrete ruins, Wi-Fi dies within 15 meters. We use two completely independent RF channels. Wi-Fi carries camera snapshots. 433 MHz LoRa carries compact telemetry and commands deep through concrete. If Wi-Fi dies, video pauses, but the operator retains 100% telemetry and control over LoRa.</a:t>
            </a:r>
          </a:p>
          <a:p/>
          <a:p>
            <a:r>
              <a:t>=== KEY WINNING POINT ===</a:t>
            </a:r>
          </a:p>
          <a:p>
            <a:r>
              <a:t>Separating video bandwidth from control packets ensures the operator never loses control when video degrades.</a:t>
            </a:r>
          </a:p>
          <a:p/>
          <a:p>
            <a:r>
              <a:t>=== TRANSITION ===</a:t>
            </a:r>
          </a:p>
          <a:p>
            <a:r>
              <a:t>Next, let's examine our full engineering stack and component rationale.</a:t>
            </a:r>
          </a:p>
          <a:p/>
          <a:p>
            <a:r>
              <a:t>=== Q&amp;A DEFENSE FOR JUDGES ===</a:t>
            </a:r>
          </a:p>
          <a:p>
            <a:r>
              <a:t>433 MHz band is operating under license-free ISM rules with sub-10mW EIRP, meeting WPC Equipment Type Approval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Here is our complete engineering stack. We chose every part for a reason. The dual-core ESP32 gives us dedicated cores for motor control and radio tasks. We explicitly level-shifted the HC-SR04 echo pin so 5 volts won't fry the 3.3-volt ESP32. And our split-rail power ensures motor startup spikes never reset the MCU.</a:t>
            </a:r>
          </a:p>
          <a:p/>
          <a:p>
            <a:r>
              <a:t>=== KEY WINNING POINT ===</a:t>
            </a:r>
          </a:p>
          <a:p>
            <a:r>
              <a:t>Every component selection prioritizes electrical isolation, noise immunity, and deterministic safety.</a:t>
            </a:r>
          </a:p>
          <a:p/>
          <a:p>
            <a:r>
              <a:t>=== TRANSITION ===</a:t>
            </a:r>
          </a:p>
          <a:p>
            <a:r>
              <a:t>Now let us examine our empirical bench test results.</a:t>
            </a:r>
          </a:p>
          <a:p/>
          <a:p>
            <a:r>
              <a:t>=== Q&amp;A DEFENSE FOR JUDGES ===</a:t>
            </a:r>
          </a:p>
          <a:p>
            <a:r>
              <a:t>Brownout mitigation: bulk decoupling capacitors across the motor rail and ceramic capacitors close to the LoRa and ESP32 pins.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We believe presentations must be grounded in data, not fantasy. On this slide, you see our lab test results: our ultrasonic envelope reliably stopped the rover at 28 centimeters. The hardware E-Stop cut motor power in 0 milliseconds. We achieved over 98% packet delivery over LoRa through multiple walls. And in Test T-08, when we cut Wi-Fi, LoRa telemetry and safety control continued without a glitch.</a:t>
            </a:r>
          </a:p>
          <a:p/>
          <a:p>
            <a:r>
              <a:t>=== KEY WINNING POINT ===</a:t>
            </a:r>
          </a:p>
          <a:p>
            <a:r>
              <a:t>Empirical lab validation proves our fail-safe mechanisms work reliably under simulated fault conditions.</a:t>
            </a:r>
          </a:p>
          <a:p/>
          <a:p>
            <a:r>
              <a:t>=== TRANSITION ===</a:t>
            </a:r>
          </a:p>
          <a:p>
            <a:r>
              <a:t>Now let us examine real-world applications where this saves human lives.</a:t>
            </a:r>
          </a:p>
          <a:p/>
          <a:p>
            <a:r>
              <a:t>=== Q&amp;A DEFENSE FOR JUDGES ===</a:t>
            </a:r>
          </a:p>
          <a:p>
            <a:r>
              <a:t>T-03 tests were conducted against flat drywall at 0.3 m/s duty cycle.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Where does AURA-X make an immediate difference? First: search and rescue in collapsed rubble where Wi-Fi cannot penetrate. Second: toxic industrial ducts where human entry is hazardous. Third: subterranean culverts with zero GPS. And fourth: precision agriculture. An emergency agency can deploy twenty AURA-X scouts for less than the cost of a single commercial robot.</a:t>
            </a:r>
          </a:p>
          <a:p/>
          <a:p>
            <a:r>
              <a:t>=== KEY WINNING POINT ===</a:t>
            </a:r>
          </a:p>
          <a:p>
            <a:r>
              <a:t>A sub-150-dollar platform enables expendable, high-impact tactical deployment in life-threatening environments.</a:t>
            </a:r>
          </a:p>
          <a:p/>
          <a:p>
            <a:r>
              <a:t>=== TRANSITION ===</a:t>
            </a:r>
          </a:p>
          <a:p>
            <a:r>
              <a:t>Now let us conclude with our final winning pitch.</a:t>
            </a:r>
          </a:p>
          <a:p/>
          <a:p>
            <a:r>
              <a:t>=== Q&amp;A DEFENSE FOR JUDGES ===</a:t>
            </a:r>
          </a:p>
          <a:p>
            <a:r>
              <a:t>Because components are standard COTS electronics, there are zero supply chain bottlenecks or exotic manufacturing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TRACK (20-30 SECONDS) ===</a:t>
            </a:r>
          </a:p>
          <a:p>
            <a:r>
              <a:t>To conclude: AURA-X is not just another hackathon robot that drives forward and calls a cloud API. It is an architectural blueprint for how modern autonomous systems must be built. By anchoring high-level cloud reasoning within a deterministic, real-time embedded safety envelope—and connecting it via an asymmetric LoRa and Wi-Fi backbone—we have created an exploration rover that is intelligent, resilient, and accessible to anyone. We deliver industrial-grade fail-safe operation on an accessible platform that can save lives in disaster zones and hazardous facilities. Thank you for your time, and we now welcome your questions.</a:t>
            </a:r>
          </a:p>
          <a:p/>
          <a:p>
            <a:r>
              <a:t>=== KEY WINNING POINT ===</a:t>
            </a:r>
          </a:p>
          <a:p>
            <a:r>
              <a:t>AURA-X solves the fundamental safety challenge of modern robotics: Intelligence in the cloud, autonomy at the edge, absolute safety in the firmware.</a:t>
            </a:r>
          </a:p>
          <a:p/>
          <a:p>
            <a:r>
              <a:t>=== TRANSITION ===</a:t>
            </a:r>
          </a:p>
          <a:p>
            <a:r>
              <a:t>Conclude with confidence and open the floor for judge Q&amp;A.</a:t>
            </a:r>
          </a:p>
          <a:p/>
          <a:p>
            <a:r>
              <a:t>=== Q&amp;A DEFENSE FOR JUDGES ===</a:t>
            </a:r>
          </a:p>
          <a:p>
            <a:r>
              <a:t>Be ready for technical questions regarding FreeRTOS task prioritization, LoRa packet structure, power rail isolation, and API structured output schemas.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38912"/>
            <a:ext cx="6400800" cy="274320"/>
          </a:xfrm>
          <a:prstGeom prst="rect">
            <a:avLst/>
          </a:prstGeom>
          <a:noFill/>
        </p:spPr>
        <p:txBody>
          <a:bodyPr wrap="none">
            <a:spAutoFit/>
          </a:bodyPr>
          <a:lstStyle/>
          <a:p>
            <a:pPr>
              <a:defRPr sz="1100" b="1">
                <a:solidFill>
                  <a:srgbClr val="1D4ED8"/>
                </a:solidFill>
              </a:defRPr>
            </a:pPr>
            <a:r>
              <a:t>GRAND HACKATHON FINALS  •  AUTONOMOUS ROBOTICS &amp; EDGE AI</a:t>
            </a:r>
          </a:p>
        </p:txBody>
      </p:sp>
      <p:sp>
        <p:nvSpPr>
          <p:cNvPr id="4" name="TextBox 3"/>
          <p:cNvSpPr txBox="1"/>
          <p:nvPr/>
        </p:nvSpPr>
        <p:spPr>
          <a:xfrm>
            <a:off x="731520" y="713232"/>
            <a:ext cx="6217920" cy="1051560"/>
          </a:xfrm>
          <a:prstGeom prst="rect">
            <a:avLst/>
          </a:prstGeom>
          <a:noFill/>
        </p:spPr>
        <p:txBody>
          <a:bodyPr wrap="none">
            <a:spAutoFit/>
          </a:bodyPr>
          <a:lstStyle/>
          <a:p>
            <a:pPr>
              <a:defRPr sz="4600" b="1">
                <a:solidFill>
                  <a:srgbClr val="1D4ED8"/>
                </a:solidFill>
              </a:defRPr>
            </a:pPr>
            <a:r>
              <a:t>AURA-X</a:t>
            </a:r>
          </a:p>
          <a:p>
            <a:pPr>
              <a:defRPr sz="2000" b="1">
                <a:solidFill>
                  <a:srgbClr val="0F172A"/>
                </a:solidFill>
              </a:defRPr>
            </a:pPr>
            <a:r>
              <a:t>AI-Powered Autonomous Exploration Rover</a:t>
            </a:r>
          </a:p>
        </p:txBody>
      </p:sp>
      <p:sp>
        <p:nvSpPr>
          <p:cNvPr id="5" name="Rounded Rectangle 4"/>
          <p:cNvSpPr/>
          <p:nvPr/>
        </p:nvSpPr>
        <p:spPr>
          <a:xfrm>
            <a:off x="731520" y="1874519"/>
            <a:ext cx="5852160" cy="86868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38528"/>
            <a:ext cx="5486400" cy="731520"/>
          </a:xfrm>
          <a:prstGeom prst="rect">
            <a:avLst/>
          </a:prstGeom>
          <a:noFill/>
        </p:spPr>
        <p:txBody>
          <a:bodyPr wrap="square">
            <a:spAutoFit/>
          </a:bodyPr>
          <a:lstStyle/>
          <a:p>
            <a:pPr>
              <a:defRPr sz="1100" b="1">
                <a:solidFill>
                  <a:srgbClr val="1D4ED8"/>
                </a:solidFill>
              </a:defRPr>
            </a:pPr>
            <a:r>
              <a:t>CORE THESIS:</a:t>
            </a:r>
          </a:p>
          <a:p>
            <a:pPr>
              <a:defRPr sz="1300">
                <a:solidFill>
                  <a:srgbClr val="0F172A"/>
                </a:solidFill>
              </a:defRPr>
            </a:pPr>
            <a:r>
              <a:t>Cloud AI plans the mission. Onboard FreeRTOS enforces physical safety. Dual-band LoRa &amp; Wi-Fi guarantees connection in hostile environments.</a:t>
            </a:r>
          </a:p>
        </p:txBody>
      </p:sp>
      <p:sp>
        <p:nvSpPr>
          <p:cNvPr id="7" name="TextBox 6"/>
          <p:cNvSpPr txBox="1"/>
          <p:nvPr/>
        </p:nvSpPr>
        <p:spPr>
          <a:xfrm>
            <a:off x="731520" y="2880360"/>
            <a:ext cx="5852160" cy="274320"/>
          </a:xfrm>
          <a:prstGeom prst="rect">
            <a:avLst/>
          </a:prstGeom>
          <a:noFill/>
        </p:spPr>
        <p:txBody>
          <a:bodyPr wrap="none">
            <a:spAutoFit/>
          </a:bodyPr>
          <a:lstStyle/>
          <a:p>
            <a:pPr>
              <a:defRPr sz="1100" b="1">
                <a:solidFill>
                  <a:srgbClr val="64748B"/>
                </a:solidFill>
              </a:defRPr>
            </a:pPr>
            <a:r>
              <a:t>ENGINEERING TEAM:</a:t>
            </a:r>
          </a:p>
        </p:txBody>
      </p:sp>
      <p:sp>
        <p:nvSpPr>
          <p:cNvPr id="8" name="Rounded Rectangle 7"/>
          <p:cNvSpPr/>
          <p:nvPr/>
        </p:nvSpPr>
        <p:spPr>
          <a:xfrm>
            <a:off x="731520" y="3200400"/>
            <a:ext cx="283464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10128"/>
            <a:ext cx="2560320" cy="822960"/>
          </a:xfrm>
          <a:prstGeom prst="rect">
            <a:avLst/>
          </a:prstGeom>
          <a:noFill/>
        </p:spPr>
        <p:txBody>
          <a:bodyPr wrap="square">
            <a:spAutoFit/>
          </a:bodyPr>
          <a:lstStyle/>
          <a:p>
            <a:pPr>
              <a:defRPr sz="1300" b="1">
                <a:solidFill>
                  <a:srgbClr val="0F172A"/>
                </a:solidFill>
              </a:defRPr>
            </a:pPr>
            <a:r>
              <a:t>SOHAM VINCHU</a:t>
            </a:r>
          </a:p>
          <a:p>
            <a:pPr>
              <a:defRPr sz="1100">
                <a:solidFill>
                  <a:srgbClr val="1D4ED8"/>
                </a:solidFill>
              </a:defRPr>
            </a:pPr>
            <a:r>
              <a:t>Firmware &amp; Embedded Systems Lead</a:t>
            </a:r>
          </a:p>
        </p:txBody>
      </p:sp>
      <p:sp>
        <p:nvSpPr>
          <p:cNvPr id="10" name="Rounded Rectangle 9"/>
          <p:cNvSpPr/>
          <p:nvPr/>
        </p:nvSpPr>
        <p:spPr>
          <a:xfrm>
            <a:off x="3749039" y="3200400"/>
            <a:ext cx="283464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86199" y="3310128"/>
            <a:ext cx="2560320" cy="822960"/>
          </a:xfrm>
          <a:prstGeom prst="rect">
            <a:avLst/>
          </a:prstGeom>
          <a:noFill/>
        </p:spPr>
        <p:txBody>
          <a:bodyPr wrap="square">
            <a:spAutoFit/>
          </a:bodyPr>
          <a:lstStyle/>
          <a:p>
            <a:pPr>
              <a:defRPr sz="1300" b="1">
                <a:solidFill>
                  <a:srgbClr val="0F172A"/>
                </a:solidFill>
              </a:defRPr>
            </a:pPr>
            <a:r>
              <a:t>NISHITA PATIL</a:t>
            </a:r>
          </a:p>
          <a:p>
            <a:pPr>
              <a:defRPr sz="1100">
                <a:solidFill>
                  <a:srgbClr val="1D4ED8"/>
                </a:solidFill>
              </a:defRPr>
            </a:pPr>
            <a:r>
              <a:t>Hardware &amp; RF Communication Lead</a:t>
            </a:r>
          </a:p>
        </p:txBody>
      </p:sp>
      <p:sp>
        <p:nvSpPr>
          <p:cNvPr id="12" name="Rounded Rectangle 11"/>
          <p:cNvSpPr/>
          <p:nvPr/>
        </p:nvSpPr>
        <p:spPr>
          <a:xfrm>
            <a:off x="731520" y="4389120"/>
            <a:ext cx="283464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498848"/>
            <a:ext cx="2560320" cy="822960"/>
          </a:xfrm>
          <a:prstGeom prst="rect">
            <a:avLst/>
          </a:prstGeom>
          <a:noFill/>
        </p:spPr>
        <p:txBody>
          <a:bodyPr wrap="square">
            <a:spAutoFit/>
          </a:bodyPr>
          <a:lstStyle/>
          <a:p>
            <a:pPr>
              <a:defRPr sz="1300" b="1">
                <a:solidFill>
                  <a:srgbClr val="0F172A"/>
                </a:solidFill>
              </a:defRPr>
            </a:pPr>
            <a:r>
              <a:t>VEDANT MALI</a:t>
            </a:r>
          </a:p>
          <a:p>
            <a:pPr>
              <a:defRPr sz="1100">
                <a:solidFill>
                  <a:srgbClr val="1D4ED8"/>
                </a:solidFill>
              </a:defRPr>
            </a:pPr>
            <a:r>
              <a:t>AI Gateway &amp; Cloud Vision Lead</a:t>
            </a:r>
          </a:p>
        </p:txBody>
      </p:sp>
      <p:sp>
        <p:nvSpPr>
          <p:cNvPr id="14" name="Rounded Rectangle 13"/>
          <p:cNvSpPr/>
          <p:nvPr/>
        </p:nvSpPr>
        <p:spPr>
          <a:xfrm>
            <a:off x="3749039" y="4389120"/>
            <a:ext cx="283464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86199" y="4498848"/>
            <a:ext cx="2560320" cy="822960"/>
          </a:xfrm>
          <a:prstGeom prst="rect">
            <a:avLst/>
          </a:prstGeom>
          <a:noFill/>
        </p:spPr>
        <p:txBody>
          <a:bodyPr wrap="square">
            <a:spAutoFit/>
          </a:bodyPr>
          <a:lstStyle/>
          <a:p>
            <a:pPr>
              <a:defRPr sz="1300" b="1">
                <a:solidFill>
                  <a:srgbClr val="0F172A"/>
                </a:solidFill>
              </a:defRPr>
            </a:pPr>
            <a:r>
              <a:t>BHAKTI SONAWANE</a:t>
            </a:r>
          </a:p>
          <a:p>
            <a:pPr>
              <a:defRPr sz="1100">
                <a:solidFill>
                  <a:srgbClr val="1D4ED8"/>
                </a:solidFill>
              </a:defRPr>
            </a:pPr>
            <a:r>
              <a:t>Systems Integration &amp; Safety Lead</a:t>
            </a:r>
          </a:p>
        </p:txBody>
      </p:sp>
      <p:sp>
        <p:nvSpPr>
          <p:cNvPr id="16" name="Rounded Rectangle 15"/>
          <p:cNvSpPr/>
          <p:nvPr/>
        </p:nvSpPr>
        <p:spPr>
          <a:xfrm>
            <a:off x="731520" y="5623560"/>
            <a:ext cx="2834640" cy="347472"/>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641848"/>
            <a:ext cx="2834640" cy="310896"/>
          </a:xfrm>
          <a:prstGeom prst="rect">
            <a:avLst/>
          </a:prstGeom>
          <a:noFill/>
        </p:spPr>
        <p:txBody>
          <a:bodyPr wrap="none">
            <a:spAutoFit/>
          </a:bodyPr>
          <a:lstStyle/>
          <a:p>
            <a:pPr algn="ctr">
              <a:defRPr sz="1000" b="1">
                <a:solidFill>
                  <a:srgbClr val="334155"/>
                </a:solidFill>
              </a:defRPr>
            </a:pPr>
            <a:r>
              <a:t>✔ Dual RF Spectrum (433MHz + 2.4GHz)</a:t>
            </a:r>
          </a:p>
        </p:txBody>
      </p:sp>
      <p:sp>
        <p:nvSpPr>
          <p:cNvPr id="18" name="Rounded Rectangle 17"/>
          <p:cNvSpPr/>
          <p:nvPr/>
        </p:nvSpPr>
        <p:spPr>
          <a:xfrm>
            <a:off x="3749039" y="5623560"/>
            <a:ext cx="2834640" cy="347472"/>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49039" y="5641848"/>
            <a:ext cx="2834640" cy="310896"/>
          </a:xfrm>
          <a:prstGeom prst="rect">
            <a:avLst/>
          </a:prstGeom>
          <a:noFill/>
        </p:spPr>
        <p:txBody>
          <a:bodyPr wrap="none">
            <a:spAutoFit/>
          </a:bodyPr>
          <a:lstStyle/>
          <a:p>
            <a:pPr algn="ctr">
              <a:defRPr sz="1000" b="1">
                <a:solidFill>
                  <a:srgbClr val="334155"/>
                </a:solidFill>
              </a:defRPr>
            </a:pPr>
            <a:r>
              <a:t>✔ Hardware E-Stop &amp; Ultrasonic Veto</a:t>
            </a:r>
          </a:p>
        </p:txBody>
      </p:sp>
      <p:sp>
        <p:nvSpPr>
          <p:cNvPr id="20" name="Rounded Rectangle 19"/>
          <p:cNvSpPr/>
          <p:nvPr/>
        </p:nvSpPr>
        <p:spPr>
          <a:xfrm>
            <a:off x="731520" y="6035040"/>
            <a:ext cx="2834640" cy="347472"/>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053328"/>
            <a:ext cx="2834640" cy="310896"/>
          </a:xfrm>
          <a:prstGeom prst="rect">
            <a:avLst/>
          </a:prstGeom>
          <a:noFill/>
        </p:spPr>
        <p:txBody>
          <a:bodyPr wrap="none">
            <a:spAutoFit/>
          </a:bodyPr>
          <a:lstStyle/>
          <a:p>
            <a:pPr algn="ctr">
              <a:defRPr sz="1000" b="1">
                <a:solidFill>
                  <a:srgbClr val="334155"/>
                </a:solidFill>
              </a:defRPr>
            </a:pPr>
            <a:r>
              <a:t>✔ GPT-4o Vision Schema-Bounded</a:t>
            </a:r>
          </a:p>
        </p:txBody>
      </p:sp>
      <p:sp>
        <p:nvSpPr>
          <p:cNvPr id="22" name="Rounded Rectangle 21"/>
          <p:cNvSpPr/>
          <p:nvPr/>
        </p:nvSpPr>
        <p:spPr>
          <a:xfrm>
            <a:off x="3749039" y="6035040"/>
            <a:ext cx="2834640" cy="347472"/>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49039" y="6053328"/>
            <a:ext cx="2834640" cy="310896"/>
          </a:xfrm>
          <a:prstGeom prst="rect">
            <a:avLst/>
          </a:prstGeom>
          <a:noFill/>
        </p:spPr>
        <p:txBody>
          <a:bodyPr wrap="none">
            <a:spAutoFit/>
          </a:bodyPr>
          <a:lstStyle/>
          <a:p>
            <a:pPr algn="ctr">
              <a:defRPr sz="1000" b="1">
                <a:solidFill>
                  <a:srgbClr val="334155"/>
                </a:solidFill>
              </a:defRPr>
            </a:pPr>
            <a:r>
              <a:t>✔ 5-Tier Graceful Failover</a:t>
            </a:r>
          </a:p>
        </p:txBody>
      </p:sp>
      <p:sp>
        <p:nvSpPr>
          <p:cNvPr id="24" name="Rounded Rectangle 23"/>
          <p:cNvSpPr/>
          <p:nvPr/>
        </p:nvSpPr>
        <p:spPr>
          <a:xfrm>
            <a:off x="6858000" y="594360"/>
            <a:ext cx="4572000" cy="57607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AURA_X_Concept_Rover.png"/>
          <p:cNvPicPr>
            <a:picLocks noChangeAspect="1"/>
          </p:cNvPicPr>
          <p:nvPr/>
        </p:nvPicPr>
        <p:blipFill>
          <a:blip r:embed="rId2"/>
          <a:stretch>
            <a:fillRect/>
          </a:stretch>
        </p:blipFill>
        <p:spPr>
          <a:xfrm>
            <a:off x="6949440" y="731520"/>
            <a:ext cx="4389120" cy="2470193"/>
          </a:xfrm>
          <a:prstGeom prst="rect">
            <a:avLst/>
          </a:prstGeom>
        </p:spPr>
      </p:pic>
      <p:sp>
        <p:nvSpPr>
          <p:cNvPr id="26" name="TextBox 25"/>
          <p:cNvSpPr txBox="1"/>
          <p:nvPr/>
        </p:nvSpPr>
        <p:spPr>
          <a:xfrm>
            <a:off x="6949440" y="4892040"/>
            <a:ext cx="4389120" cy="1280160"/>
          </a:xfrm>
          <a:prstGeom prst="rect">
            <a:avLst/>
          </a:prstGeom>
          <a:noFill/>
        </p:spPr>
        <p:txBody>
          <a:bodyPr wrap="square">
            <a:spAutoFit/>
          </a:bodyPr>
          <a:lstStyle/>
          <a:p>
            <a:pPr>
              <a:defRPr sz="1200" b="1">
                <a:solidFill>
                  <a:srgbClr val="1D4ED8"/>
                </a:solidFill>
              </a:defRPr>
            </a:pPr>
            <a:r>
              <a:t>AURA-X EXPLORATION PROTOTYPE</a:t>
            </a:r>
          </a:p>
          <a:p>
            <a:pPr>
              <a:defRPr sz="1100">
                <a:solidFill>
                  <a:srgbClr val="334155"/>
                </a:solidFill>
              </a:defRPr>
            </a:pPr>
            <a:r>
              <a:t>Engineered for search &amp; rescue, chemical pipeline inspection, and GPS-denied environments. Anchored in deterministic FreeRTOS safety.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THE REAL-WORLD PROBLEM</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Why Inspection Robots Fail in Hostile Environments</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Collapsed structures, industrial ducts, and disaster zones break conventional robotics in three fatal ways:</a:t>
            </a:r>
          </a:p>
        </p:txBody>
      </p:sp>
      <p:sp>
        <p:nvSpPr>
          <p:cNvPr id="6" name="Rounded Rectangle 5"/>
          <p:cNvSpPr/>
          <p:nvPr/>
        </p:nvSpPr>
        <p:spPr>
          <a:xfrm>
            <a:off x="731520" y="1645920"/>
            <a:ext cx="3474720" cy="384048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3017520" cy="3383280"/>
          </a:xfrm>
          <a:prstGeom prst="rect">
            <a:avLst/>
          </a:prstGeom>
          <a:noFill/>
        </p:spPr>
        <p:txBody>
          <a:bodyPr wrap="square">
            <a:spAutoFit/>
          </a:bodyPr>
          <a:lstStyle/>
          <a:p>
            <a:pPr>
              <a:defRPr sz="1600" b="1">
                <a:solidFill>
                  <a:srgbClr val="E11D48"/>
                </a:solidFill>
              </a:defRPr>
            </a:pPr>
            <a:r>
              <a:t>RF BLINDNESS</a:t>
            </a:r>
          </a:p>
          <a:p>
            <a:pPr>
              <a:defRPr sz="1300" b="1">
                <a:solidFill>
                  <a:srgbClr val="0F172A"/>
                </a:solidFill>
              </a:defRPr>
            </a:pPr>
            <a:r>
              <a:t>Wi-Fi Dies in Rubble</a:t>
            </a:r>
          </a:p>
          <a:p>
            <a:br/>
            <a:pPr>
              <a:defRPr sz="1300">
                <a:solidFill>
                  <a:srgbClr val="334155"/>
                </a:solidFill>
              </a:defRPr>
            </a:pPr>
            <a:r>
              <a:t>• Concrete and steel attenuate 2.4 GHz Wi-Fi within 15 meters.</a:t>
            </a:r>
            <a:br/>
            <a:r>
              <a:t>• High packet loss freezes video and drops control links.</a:t>
            </a:r>
            <a:br/>
            <a:r>
              <a:t>• Result: Robot is blinded and stranded in dangerous zones.</a:t>
            </a:r>
          </a:p>
        </p:txBody>
      </p:sp>
      <p:sp>
        <p:nvSpPr>
          <p:cNvPr id="8" name="Rounded Rectangle 7"/>
          <p:cNvSpPr/>
          <p:nvPr/>
        </p:nvSpPr>
        <p:spPr>
          <a:xfrm>
            <a:off x="4343400" y="1645920"/>
            <a:ext cx="3474720" cy="38404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74520"/>
            <a:ext cx="3017520" cy="3383280"/>
          </a:xfrm>
          <a:prstGeom prst="rect">
            <a:avLst/>
          </a:prstGeom>
          <a:noFill/>
        </p:spPr>
        <p:txBody>
          <a:bodyPr wrap="square">
            <a:spAutoFit/>
          </a:bodyPr>
          <a:lstStyle/>
          <a:p>
            <a:pPr>
              <a:defRPr sz="1600" b="1">
                <a:solidFill>
                  <a:srgbClr val="D97706"/>
                </a:solidFill>
              </a:defRPr>
            </a:pPr>
            <a:r>
              <a:t>THE LATENCY TRAP</a:t>
            </a:r>
          </a:p>
          <a:p>
            <a:pPr>
              <a:defRPr sz="1300" b="1">
                <a:solidFill>
                  <a:srgbClr val="0F172A"/>
                </a:solidFill>
              </a:defRPr>
            </a:pPr>
            <a:r>
              <a:t>Cloud AI Cannot Brake in Time</a:t>
            </a:r>
          </a:p>
          <a:p>
            <a:br/>
            <a:pPr>
              <a:defRPr sz="1300">
                <a:solidFill>
                  <a:srgbClr val="334155"/>
                </a:solidFill>
              </a:defRPr>
            </a:pPr>
            <a:r>
              <a:t>• Cloud APIs introduce 1 to 3+ seconds of network delay.</a:t>
            </a:r>
            <a:br/>
            <a:r>
              <a:t>• A rover travels 30–90 cm before the cloud can respond.</a:t>
            </a:r>
            <a:br/>
            <a:r>
              <a:t>• Result: Catastrophic kinetic collision before AI reacts.</a:t>
            </a:r>
          </a:p>
        </p:txBody>
      </p:sp>
      <p:sp>
        <p:nvSpPr>
          <p:cNvPr id="10" name="Rounded Rectangle 9"/>
          <p:cNvSpPr/>
          <p:nvPr/>
        </p:nvSpPr>
        <p:spPr>
          <a:xfrm>
            <a:off x="7955280" y="1645920"/>
            <a:ext cx="3474720" cy="384048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1874520"/>
            <a:ext cx="3017520" cy="3383280"/>
          </a:xfrm>
          <a:prstGeom prst="rect">
            <a:avLst/>
          </a:prstGeom>
          <a:noFill/>
        </p:spPr>
        <p:txBody>
          <a:bodyPr wrap="square">
            <a:spAutoFit/>
          </a:bodyPr>
          <a:lstStyle/>
          <a:p>
            <a:pPr>
              <a:defRPr sz="1600" b="1">
                <a:solidFill>
                  <a:srgbClr val="1D4ED8"/>
                </a:solidFill>
              </a:defRPr>
            </a:pPr>
            <a:r>
              <a:t>THE HUMAN TOLL</a:t>
            </a:r>
          </a:p>
          <a:p>
            <a:pPr>
              <a:defRPr sz="1300" b="1">
                <a:solidFill>
                  <a:srgbClr val="0F172A"/>
                </a:solidFill>
              </a:defRPr>
            </a:pPr>
            <a:r>
              <a:t>Dangerous Physical Entry</a:t>
            </a:r>
          </a:p>
          <a:p>
            <a:br/>
            <a:pPr>
              <a:defRPr sz="1300">
                <a:solidFill>
                  <a:srgbClr val="334155"/>
                </a:solidFill>
              </a:defRPr>
            </a:pPr>
            <a:r>
              <a:t>• Humans still enter toxic chemical ducts and unstable ruins.</a:t>
            </a:r>
            <a:br/>
            <a:r>
              <a:t>• Commercial robots cost $20,000–$50,000+ (too expensive to risk).</a:t>
            </a:r>
            <a:br/>
            <a:r>
              <a:t>• Result: Lives endangered because robotics lacks affordable resilience.</a:t>
            </a:r>
          </a:p>
        </p:txBody>
      </p:sp>
      <p:sp>
        <p:nvSpPr>
          <p:cNvPr id="12" name="Rounded Rectangle 11"/>
          <p:cNvSpPr/>
          <p:nvPr/>
        </p:nvSpPr>
        <p:spPr>
          <a:xfrm>
            <a:off x="731520" y="5669280"/>
            <a:ext cx="10728655" cy="68580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715000"/>
            <a:ext cx="10332720" cy="594360"/>
          </a:xfrm>
          <a:prstGeom prst="rect">
            <a:avLst/>
          </a:prstGeom>
          <a:noFill/>
        </p:spPr>
        <p:txBody>
          <a:bodyPr wrap="square">
            <a:spAutoFit/>
          </a:bodyPr>
          <a:lstStyle/>
          <a:p>
            <a:pPr>
              <a:defRPr sz="1100" b="1">
                <a:solidFill>
                  <a:srgbClr val="1D4ED8"/>
                </a:solidFill>
              </a:defRPr>
            </a:pPr>
            <a:r>
              <a:t>THE FATAL FLAWS:</a:t>
            </a:r>
          </a:p>
          <a:p>
            <a:pPr>
              <a:defRPr sz="1300">
                <a:solidFill>
                  <a:srgbClr val="0F172A"/>
                </a:solidFill>
              </a:defRPr>
            </a:pPr>
            <a:r>
              <a:t>You cannot trust 2.4 GHz Wi-Fi through rubble. And you cannot trust a 2-second cloud API call to stop a moving motor.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MARKET BENCHMARK</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Where Current Robotic Paradigms Fall Short</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Direct comparison across range, latency, cloud dependence, and fail-safe autonomy:</a:t>
            </a:r>
          </a:p>
        </p:txBody>
      </p:sp>
      <p:sp>
        <p:nvSpPr>
          <p:cNvPr id="6" name="Rounded Rectangle 5"/>
          <p:cNvSpPr/>
          <p:nvPr/>
        </p:nvSpPr>
        <p:spPr>
          <a:xfrm>
            <a:off x="731520" y="1645920"/>
            <a:ext cx="10728655" cy="374903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2960" y="1737360"/>
          <a:ext cx="10545775" cy="3474720"/>
        </p:xfrm>
        <a:graphic>
          <a:graphicData uri="http://schemas.openxmlformats.org/drawingml/2006/table">
            <a:tbl>
              <a:tblPr firstRow="1" bandRow="1">
                <a:tableStyleId>{5C22544A-7EE6-4342-B048-85BDC9FD1C3A}</a:tableStyleId>
              </a:tblPr>
              <a:tblGrid>
                <a:gridCol w="2377440"/>
                <a:gridCol w="2011680"/>
                <a:gridCol w="2011680"/>
                <a:gridCol w="2011680"/>
                <a:gridCol w="2133295"/>
              </a:tblGrid>
              <a:tr h="694944">
                <a:tc>
                  <a:txBody>
                    <a:bodyPr/>
                    <a:lstStyle/>
                    <a:p>
                      <a:pPr>
                        <a:defRPr sz="1200" b="1">
                          <a:solidFill>
                            <a:srgbClr val="1D4ED8"/>
                          </a:solidFill>
                        </a:defRPr>
                      </a:pPr>
                      <a:r>
                        <a:t>Robotic Approach</a:t>
                      </a:r>
                    </a:p>
                  </a:txBody>
                  <a:tcPr/>
                </a:tc>
                <a:tc>
                  <a:txBody>
                    <a:bodyPr/>
                    <a:lstStyle/>
                    <a:p>
                      <a:pPr>
                        <a:defRPr sz="1200" b="1">
                          <a:solidFill>
                            <a:srgbClr val="1D4ED8"/>
                          </a:solidFill>
                        </a:defRPr>
                      </a:pPr>
                      <a:r>
                        <a:t>RF Penetration</a:t>
                      </a:r>
                    </a:p>
                  </a:txBody>
                  <a:tcPr/>
                </a:tc>
                <a:tc>
                  <a:txBody>
                    <a:bodyPr/>
                    <a:lstStyle/>
                    <a:p>
                      <a:pPr>
                        <a:defRPr sz="1200" b="1">
                          <a:solidFill>
                            <a:srgbClr val="1D4ED8"/>
                          </a:solidFill>
                        </a:defRPr>
                      </a:pPr>
                      <a:r>
                        <a:t>Motor Latency</a:t>
                      </a:r>
                    </a:p>
                  </a:txBody>
                  <a:tcPr/>
                </a:tc>
                <a:tc>
                  <a:txBody>
                    <a:bodyPr/>
                    <a:lstStyle/>
                    <a:p>
                      <a:pPr>
                        <a:defRPr sz="1200" b="1">
                          <a:solidFill>
                            <a:srgbClr val="1D4ED8"/>
                          </a:solidFill>
                        </a:defRPr>
                      </a:pPr>
                      <a:r>
                        <a:t>Fail-Safe Autonomy</a:t>
                      </a:r>
                    </a:p>
                  </a:txBody>
                  <a:tcPr/>
                </a:tc>
                <a:tc>
                  <a:txBody>
                    <a:bodyPr/>
                    <a:lstStyle/>
                    <a:p>
                      <a:pPr>
                        <a:defRPr sz="1200" b="1">
                          <a:solidFill>
                            <a:srgbClr val="1D4ED8"/>
                          </a:solidFill>
                        </a:defRPr>
                      </a:pPr>
                      <a:r>
                        <a:t>Cognitive Vision</a:t>
                      </a:r>
                    </a:p>
                  </a:txBody>
                  <a:tcPr/>
                </a:tc>
              </a:tr>
              <a:tr h="694944">
                <a:tc>
                  <a:txBody>
                    <a:bodyPr/>
                    <a:lstStyle/>
                    <a:p>
                      <a:pPr>
                        <a:defRPr sz="1200">
                          <a:solidFill>
                            <a:srgbClr val="334155"/>
                          </a:solidFill>
                        </a:defRPr>
                      </a:pPr>
                      <a:r>
                        <a:t>Consumer RC Rovers</a:t>
                      </a:r>
                    </a:p>
                  </a:txBody>
                  <a:tcPr/>
                </a:tc>
                <a:tc>
                  <a:txBody>
                    <a:bodyPr/>
                    <a:lstStyle/>
                    <a:p>
                      <a:pPr>
                        <a:defRPr sz="1200">
                          <a:solidFill>
                            <a:srgbClr val="334155"/>
                          </a:solidFill>
                        </a:defRPr>
                      </a:pPr>
                      <a:r>
                        <a:t>Fails in Rubble (&lt;20m)</a:t>
                      </a:r>
                    </a:p>
                  </a:txBody>
                  <a:tcPr/>
                </a:tc>
                <a:tc>
                  <a:txBody>
                    <a:bodyPr/>
                    <a:lstStyle/>
                    <a:p>
                      <a:pPr>
                        <a:defRPr sz="1200">
                          <a:solidFill>
                            <a:srgbClr val="334155"/>
                          </a:solidFill>
                        </a:defRPr>
                      </a:pPr>
                      <a:r>
                        <a:t>Low (&lt;50ms manual)</a:t>
                      </a:r>
                    </a:p>
                  </a:txBody>
                  <a:tcPr/>
                </a:tc>
                <a:tc>
                  <a:txBody>
                    <a:bodyPr/>
                    <a:lstStyle/>
                    <a:p>
                      <a:pPr>
                        <a:defRPr sz="1200">
                          <a:solidFill>
                            <a:srgbClr val="334155"/>
                          </a:solidFill>
                        </a:defRPr>
                      </a:pPr>
                      <a:r>
                        <a:t>None (Stranded on loss)</a:t>
                      </a:r>
                    </a:p>
                  </a:txBody>
                  <a:tcPr/>
                </a:tc>
                <a:tc>
                  <a:txBody>
                    <a:bodyPr/>
                    <a:lstStyle/>
                    <a:p>
                      <a:pPr>
                        <a:defRPr sz="1200">
                          <a:solidFill>
                            <a:srgbClr val="334155"/>
                          </a:solidFill>
                        </a:defRPr>
                      </a:pPr>
                      <a:r>
                        <a:t>None (Human eyes only)</a:t>
                      </a:r>
                    </a:p>
                  </a:txBody>
                  <a:tcPr/>
                </a:tc>
              </a:tr>
              <a:tr h="694944">
                <a:tc>
                  <a:txBody>
                    <a:bodyPr/>
                    <a:lstStyle/>
                    <a:p>
                      <a:pPr>
                        <a:defRPr sz="1200">
                          <a:solidFill>
                            <a:srgbClr val="334155"/>
                          </a:solidFill>
                        </a:defRPr>
                      </a:pPr>
                      <a:r>
                        <a:t>Cloud-Tethered IoT Bots</a:t>
                      </a:r>
                    </a:p>
                  </a:txBody>
                  <a:tcPr/>
                </a:tc>
                <a:tc>
                  <a:txBody>
                    <a:bodyPr/>
                    <a:lstStyle/>
                    <a:p>
                      <a:pPr>
                        <a:defRPr sz="1200">
                          <a:solidFill>
                            <a:srgbClr val="334155"/>
                          </a:solidFill>
                        </a:defRPr>
                      </a:pPr>
                      <a:r>
                        <a:t>Severe RF Blackouts</a:t>
                      </a:r>
                    </a:p>
                  </a:txBody>
                  <a:tcPr/>
                </a:tc>
                <a:tc>
                  <a:txBody>
                    <a:bodyPr/>
                    <a:lstStyle/>
                    <a:p>
                      <a:pPr>
                        <a:defRPr sz="1200">
                          <a:solidFill>
                            <a:srgbClr val="334155"/>
                          </a:solidFill>
                        </a:defRPr>
                      </a:pPr>
                      <a:r>
                        <a:t>High &amp; Unsafe (1.5-3.0s)</a:t>
                      </a:r>
                    </a:p>
                  </a:txBody>
                  <a:tcPr/>
                </a:tc>
                <a:tc>
                  <a:txBody>
                    <a:bodyPr/>
                    <a:lstStyle/>
                    <a:p>
                      <a:pPr>
                        <a:defRPr sz="1200">
                          <a:solidFill>
                            <a:srgbClr val="334155"/>
                          </a:solidFill>
                        </a:defRPr>
                      </a:pPr>
                      <a:r>
                        <a:t>None (Crashes on disconnect)</a:t>
                      </a:r>
                    </a:p>
                  </a:txBody>
                  <a:tcPr/>
                </a:tc>
                <a:tc>
                  <a:txBody>
                    <a:bodyPr/>
                    <a:lstStyle/>
                    <a:p>
                      <a:pPr>
                        <a:defRPr sz="1200">
                          <a:solidFill>
                            <a:srgbClr val="334155"/>
                          </a:solidFill>
                        </a:defRPr>
                      </a:pPr>
                      <a:r>
                        <a:t>Unconstrained / Risky</a:t>
                      </a:r>
                    </a:p>
                  </a:txBody>
                  <a:tcPr/>
                </a:tc>
              </a:tr>
              <a:tr h="694944">
                <a:tc>
                  <a:txBody>
                    <a:bodyPr/>
                    <a:lstStyle/>
                    <a:p>
                      <a:pPr>
                        <a:defRPr sz="1200">
                          <a:solidFill>
                            <a:srgbClr val="334155"/>
                          </a:solidFill>
                        </a:defRPr>
                      </a:pPr>
                      <a:r>
                        <a:t>Industrial Mil-Spec UGVs</a:t>
                      </a:r>
                    </a:p>
                  </a:txBody>
                  <a:tcPr/>
                </a:tc>
                <a:tc>
                  <a:txBody>
                    <a:bodyPr/>
                    <a:lstStyle/>
                    <a:p>
                      <a:pPr>
                        <a:defRPr sz="1200">
                          <a:solidFill>
                            <a:srgbClr val="334155"/>
                          </a:solidFill>
                        </a:defRPr>
                      </a:pPr>
                      <a:r>
                        <a:t>Proprietary Sub-GHz</a:t>
                      </a:r>
                    </a:p>
                  </a:txBody>
                  <a:tcPr/>
                </a:tc>
                <a:tc>
                  <a:txBody>
                    <a:bodyPr/>
                    <a:lstStyle/>
                    <a:p>
                      <a:pPr>
                        <a:defRPr sz="1200">
                          <a:solidFill>
                            <a:srgbClr val="334155"/>
                          </a:solidFill>
                        </a:defRPr>
                      </a:pPr>
                      <a:r>
                        <a:t>Real-Time Edge</a:t>
                      </a:r>
                    </a:p>
                  </a:txBody>
                  <a:tcPr/>
                </a:tc>
                <a:tc>
                  <a:txBody>
                    <a:bodyPr/>
                    <a:lstStyle/>
                    <a:p>
                      <a:pPr>
                        <a:defRPr sz="1200">
                          <a:solidFill>
                            <a:srgbClr val="334155"/>
                          </a:solidFill>
                        </a:defRPr>
                      </a:pPr>
                      <a:r>
                        <a:t>High (Heavy compute)</a:t>
                      </a:r>
                    </a:p>
                  </a:txBody>
                  <a:tcPr/>
                </a:tc>
                <a:tc>
                  <a:txBody>
                    <a:bodyPr/>
                    <a:lstStyle/>
                    <a:p>
                      <a:pPr>
                        <a:defRPr sz="1200">
                          <a:solidFill>
                            <a:srgbClr val="334155"/>
                          </a:solidFill>
                        </a:defRPr>
                      </a:pPr>
                      <a:r>
                        <a:t>Basic CV ($30k+ cost)</a:t>
                      </a:r>
                    </a:p>
                  </a:txBody>
                  <a:tcPr/>
                </a:tc>
              </a:tr>
              <a:tr h="694944">
                <a:tc>
                  <a:txBody>
                    <a:bodyPr/>
                    <a:lstStyle/>
                    <a:p>
                      <a:pPr>
                        <a:defRPr sz="1200" b="1">
                          <a:solidFill>
                            <a:srgbClr val="1D4ED8"/>
                          </a:solidFill>
                        </a:defRPr>
                      </a:pPr>
                      <a:r>
                        <a:t>AURA-X Architecture</a:t>
                      </a:r>
                    </a:p>
                  </a:txBody>
                  <a:tcPr/>
                </a:tc>
                <a:tc>
                  <a:txBody>
                    <a:bodyPr/>
                    <a:lstStyle/>
                    <a:p>
                      <a:pPr>
                        <a:defRPr sz="1200" b="1">
                          <a:solidFill>
                            <a:srgbClr val="059669"/>
                          </a:solidFill>
                        </a:defRPr>
                      </a:pPr>
                      <a:r>
                        <a:t>Dual: 433MHz + 2.4GHz</a:t>
                      </a:r>
                    </a:p>
                  </a:txBody>
                  <a:tcPr/>
                </a:tc>
                <a:tc>
                  <a:txBody>
                    <a:bodyPr/>
                    <a:lstStyle/>
                    <a:p>
                      <a:pPr>
                        <a:defRPr sz="1200" b="1">
                          <a:solidFill>
                            <a:srgbClr val="059669"/>
                          </a:solidFill>
                        </a:defRPr>
                      </a:pPr>
                      <a:r>
                        <a:t>Zero (Local FreeRTOS)</a:t>
                      </a:r>
                    </a:p>
                  </a:txBody>
                  <a:tcPr/>
                </a:tc>
                <a:tc>
                  <a:txBody>
                    <a:bodyPr/>
                    <a:lstStyle/>
                    <a:p>
                      <a:pPr>
                        <a:defRPr sz="1200" b="1">
                          <a:solidFill>
                            <a:srgbClr val="059669"/>
                          </a:solidFill>
                        </a:defRPr>
                      </a:pPr>
                      <a:r>
                        <a:t>5-Tier Graceful Failover</a:t>
                      </a:r>
                    </a:p>
                  </a:txBody>
                  <a:tcPr/>
                </a:tc>
                <a:tc>
                  <a:txBody>
                    <a:bodyPr/>
                    <a:lstStyle/>
                    <a:p>
                      <a:pPr>
                        <a:defRPr sz="1200" b="1">
                          <a:solidFill>
                            <a:srgbClr val="059669"/>
                          </a:solidFill>
                        </a:defRPr>
                      </a:pPr>
                      <a:r>
                        <a:t>Schema-Bounded AI</a:t>
                      </a:r>
                    </a:p>
                  </a:txBody>
                  <a:tcPr/>
                </a:tc>
              </a:tr>
            </a:tbl>
          </a:graphicData>
        </a:graphic>
      </p:graphicFrame>
      <p:sp>
        <p:nvSpPr>
          <p:cNvPr id="8" name="Rounded Rectangle 7"/>
          <p:cNvSpPr/>
          <p:nvPr/>
        </p:nvSpPr>
        <p:spPr>
          <a:xfrm>
            <a:off x="731520" y="5623560"/>
            <a:ext cx="10728655" cy="731520"/>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669280"/>
            <a:ext cx="10332720" cy="640080"/>
          </a:xfrm>
          <a:prstGeom prst="rect">
            <a:avLst/>
          </a:prstGeom>
          <a:noFill/>
        </p:spPr>
        <p:txBody>
          <a:bodyPr wrap="none">
            <a:spAutoFit/>
          </a:bodyPr>
          <a:lstStyle/>
          <a:p>
            <a:pPr>
              <a:defRPr sz="1100" b="1">
                <a:solidFill>
                  <a:srgbClr val="059669"/>
                </a:solidFill>
              </a:defRPr>
            </a:pPr>
            <a:r>
              <a:t>THE AURA-X COMPETITIVE ADVANTAGE:</a:t>
            </a:r>
          </a:p>
          <a:p>
            <a:pPr>
              <a:defRPr sz="1300">
                <a:solidFill>
                  <a:srgbClr val="0F172A"/>
                </a:solidFill>
              </a:defRPr>
            </a:pPr>
            <a:r>
              <a:t>We deliver the cognitive scene intelligence of modern AI, anchored by the sub-millisecond physical safety of local embedded RTOS.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CORE INNOVATION</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The AURA-X Solution: Decoupled Edge Intelligence</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Separating high-level cognitive reasoning from low-level deterministic motor actuation across 4 pillars:</a:t>
            </a:r>
          </a:p>
        </p:txBody>
      </p:sp>
      <p:sp>
        <p:nvSpPr>
          <p:cNvPr id="6" name="Rounded Rectangle 5"/>
          <p:cNvSpPr/>
          <p:nvPr/>
        </p:nvSpPr>
        <p:spPr>
          <a:xfrm>
            <a:off x="731520" y="1645920"/>
            <a:ext cx="5257800" cy="201168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10512"/>
            <a:ext cx="4800600" cy="1737360"/>
          </a:xfrm>
          <a:prstGeom prst="rect">
            <a:avLst/>
          </a:prstGeom>
          <a:noFill/>
        </p:spPr>
        <p:txBody>
          <a:bodyPr wrap="square">
            <a:spAutoFit/>
          </a:bodyPr>
          <a:lstStyle/>
          <a:p>
            <a:pPr>
              <a:defRPr sz="1100" b="1">
                <a:solidFill>
                  <a:srgbClr val="059669"/>
                </a:solidFill>
              </a:defRPr>
            </a:pPr>
            <a:r>
              <a:t>PILLAR 1</a:t>
            </a:r>
          </a:p>
          <a:p>
            <a:pPr>
              <a:defRPr sz="1400" b="1">
                <a:solidFill>
                  <a:srgbClr val="0F172A"/>
                </a:solidFill>
              </a:defRPr>
            </a:pPr>
            <a:r>
              <a:t>Deterministic Embedded Safety</a:t>
            </a:r>
          </a:p>
          <a:p>
            <a:br/>
            <a:pPr>
              <a:defRPr sz="1200">
                <a:solidFill>
                  <a:srgbClr val="334155"/>
                </a:solidFill>
              </a:defRPr>
            </a:pPr>
            <a:r>
              <a:t>• Onboard ESP32 runs a dedicated FreeRTOS motor control loop.</a:t>
            </a:r>
            <a:br/>
            <a:r>
              <a:t>• HC-SR04 ultrasonic sensor enforces an uncompromised 28cm physical barrier.</a:t>
            </a:r>
            <a:br/>
            <a:r>
              <a:t>• Hardware E-Stop cuts motor enable lines with 0ms latency.</a:t>
            </a:r>
          </a:p>
        </p:txBody>
      </p:sp>
      <p:sp>
        <p:nvSpPr>
          <p:cNvPr id="8" name="Rounded Rectangle 7"/>
          <p:cNvSpPr/>
          <p:nvPr/>
        </p:nvSpPr>
        <p:spPr>
          <a:xfrm>
            <a:off x="6172200" y="1645920"/>
            <a:ext cx="5257800" cy="201168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10512"/>
            <a:ext cx="4800600" cy="1737360"/>
          </a:xfrm>
          <a:prstGeom prst="rect">
            <a:avLst/>
          </a:prstGeom>
          <a:noFill/>
        </p:spPr>
        <p:txBody>
          <a:bodyPr wrap="square">
            <a:spAutoFit/>
          </a:bodyPr>
          <a:lstStyle/>
          <a:p>
            <a:pPr>
              <a:defRPr sz="1100" b="1">
                <a:solidFill>
                  <a:srgbClr val="1D4ED8"/>
                </a:solidFill>
              </a:defRPr>
            </a:pPr>
            <a:r>
              <a:t>PILLAR 2</a:t>
            </a:r>
          </a:p>
          <a:p>
            <a:pPr>
              <a:defRPr sz="1400" b="1">
                <a:solidFill>
                  <a:srgbClr val="0F172A"/>
                </a:solidFill>
              </a:defRPr>
            </a:pPr>
            <a:r>
              <a:t>Asymmetric Dual-Band Spectrum</a:t>
            </a:r>
          </a:p>
          <a:p>
            <a:br/>
            <a:pPr>
              <a:defRPr sz="1200">
                <a:solidFill>
                  <a:srgbClr val="334155"/>
                </a:solidFill>
              </a:defRPr>
            </a:pPr>
            <a:r>
              <a:t>• 2.4 GHz Wi-Fi carries camera video &amp; high-res snapshots.</a:t>
            </a:r>
            <a:br/>
            <a:r>
              <a:t>• 433 MHz LoRa carries compact telemetry, heartbeat &amp; commands.</a:t>
            </a:r>
            <a:br/>
            <a:r>
              <a:t>• Video loss NEVER disrupts vehicle control or telemetry.</a:t>
            </a:r>
          </a:p>
        </p:txBody>
      </p:sp>
      <p:sp>
        <p:nvSpPr>
          <p:cNvPr id="10" name="Rounded Rectangle 9"/>
          <p:cNvSpPr/>
          <p:nvPr/>
        </p:nvSpPr>
        <p:spPr>
          <a:xfrm>
            <a:off x="731520" y="3794760"/>
            <a:ext cx="5257800" cy="20116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959352"/>
            <a:ext cx="4800600" cy="1737360"/>
          </a:xfrm>
          <a:prstGeom prst="rect">
            <a:avLst/>
          </a:prstGeom>
          <a:noFill/>
        </p:spPr>
        <p:txBody>
          <a:bodyPr wrap="square">
            <a:spAutoFit/>
          </a:bodyPr>
          <a:lstStyle/>
          <a:p>
            <a:pPr>
              <a:defRPr sz="1100" b="1">
                <a:solidFill>
                  <a:srgbClr val="D97706"/>
                </a:solidFill>
              </a:defRPr>
            </a:pPr>
            <a:r>
              <a:t>PILLAR 3</a:t>
            </a:r>
          </a:p>
          <a:p>
            <a:pPr>
              <a:defRPr sz="1400" b="1">
                <a:solidFill>
                  <a:srgbClr val="0F172A"/>
                </a:solidFill>
              </a:defRPr>
            </a:pPr>
            <a:r>
              <a:t>Schema-Constrained Advisory AI</a:t>
            </a:r>
          </a:p>
          <a:p>
            <a:br/>
            <a:pPr>
              <a:defRPr sz="1200">
                <a:solidFill>
                  <a:srgbClr val="334155"/>
                </a:solidFill>
              </a:defRPr>
            </a:pPr>
            <a:r>
              <a:t>• Cloud GPT-4o Vision API is hosted on ground laptop gateway.</a:t>
            </a:r>
            <a:br/>
            <a:r>
              <a:t>• Natural language directives compile into strict JSON action schemas (M-001).</a:t>
            </a:r>
            <a:br/>
            <a:r>
              <a:t>• AI is strictly advisory; firmware vetoes any unsafe suggestion.</a:t>
            </a:r>
          </a:p>
        </p:txBody>
      </p:sp>
      <p:sp>
        <p:nvSpPr>
          <p:cNvPr id="12" name="Rounded Rectangle 11"/>
          <p:cNvSpPr/>
          <p:nvPr/>
        </p:nvSpPr>
        <p:spPr>
          <a:xfrm>
            <a:off x="6172200" y="3794760"/>
            <a:ext cx="5257800" cy="201168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959352"/>
            <a:ext cx="4800600" cy="1737360"/>
          </a:xfrm>
          <a:prstGeom prst="rect">
            <a:avLst/>
          </a:prstGeom>
          <a:noFill/>
        </p:spPr>
        <p:txBody>
          <a:bodyPr wrap="square">
            <a:spAutoFit/>
          </a:bodyPr>
          <a:lstStyle/>
          <a:p>
            <a:pPr>
              <a:defRPr sz="1100" b="1">
                <a:solidFill>
                  <a:srgbClr val="0284C7"/>
                </a:solidFill>
              </a:defRPr>
            </a:pPr>
            <a:r>
              <a:t>PILLAR 4</a:t>
            </a:r>
          </a:p>
          <a:p>
            <a:pPr>
              <a:defRPr sz="1400" b="1">
                <a:solidFill>
                  <a:srgbClr val="0F172A"/>
                </a:solidFill>
              </a:defRPr>
            </a:pPr>
            <a:r>
              <a:t>5-Tier Graceful Failover</a:t>
            </a:r>
          </a:p>
          <a:p>
            <a:br/>
            <a:pPr>
              <a:defRPr sz="1200">
                <a:solidFill>
                  <a:srgbClr val="334155"/>
                </a:solidFill>
              </a:defRPr>
            </a:pPr>
            <a:r>
              <a:t>• Tier 1: Full Cloud AI + Wi-Fi Video + LoRa Telemetry</a:t>
            </a:r>
            <a:br/>
            <a:r>
              <a:t>• Tier 2: Local Manual Teleoperation (Cloud Offline)</a:t>
            </a:r>
            <a:br/>
            <a:r>
              <a:t>• Tier 3: Blind LoRa Navigation (Wi-Fi Severed)</a:t>
            </a:r>
            <a:br/>
            <a:r>
              <a:t>• Tier 4: Autonomous Reactive Obstacle Avoidance</a:t>
            </a:r>
            <a:br/>
            <a:r>
              <a:t>• Tier 5: Safe Hardware Stop Latch</a:t>
            </a:r>
          </a:p>
        </p:txBody>
      </p:sp>
      <p:sp>
        <p:nvSpPr>
          <p:cNvPr id="14" name="Rounded Rectangle 13"/>
          <p:cNvSpPr/>
          <p:nvPr/>
        </p:nvSpPr>
        <p:spPr>
          <a:xfrm>
            <a:off x="731520" y="5989320"/>
            <a:ext cx="10728655" cy="50292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6016752"/>
            <a:ext cx="10332720" cy="438912"/>
          </a:xfrm>
          <a:prstGeom prst="rect">
            <a:avLst/>
          </a:prstGeom>
          <a:noFill/>
        </p:spPr>
        <p:txBody>
          <a:bodyPr wrap="none">
            <a:spAutoFit/>
          </a:bodyPr>
          <a:lstStyle/>
          <a:p>
            <a:pPr>
              <a:defRPr sz="1100" b="1">
                <a:solidFill>
                  <a:srgbClr val="1D4ED8"/>
                </a:solidFill>
              </a:defRPr>
            </a:pPr>
            <a:r>
              <a:t>THE AURA-X GOLDEN ARCHITECTURAL RULE: The Main ESP32 is the ultimate authority. The AI Gateway proposes intent; the rover firmware enforces physics.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SYSTEM ARCHITECTURE</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Distributed Subsystems &amp; Hardware Isolation</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Clean physical and electrical separation between motor actuation, video streaming, and mission control:</a:t>
            </a:r>
          </a:p>
        </p:txBody>
      </p:sp>
      <p:sp>
        <p:nvSpPr>
          <p:cNvPr id="6" name="Rounded Rectangle 5"/>
          <p:cNvSpPr/>
          <p:nvPr/>
        </p:nvSpPr>
        <p:spPr>
          <a:xfrm>
            <a:off x="731520" y="1645920"/>
            <a:ext cx="6217920" cy="3931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ystem_Architecture.png"/>
          <p:cNvPicPr>
            <a:picLocks noChangeAspect="1"/>
          </p:cNvPicPr>
          <p:nvPr/>
        </p:nvPicPr>
        <p:blipFill>
          <a:blip r:embed="rId2"/>
          <a:stretch>
            <a:fillRect/>
          </a:stretch>
        </p:blipFill>
        <p:spPr>
          <a:xfrm>
            <a:off x="822960" y="1737360"/>
            <a:ext cx="6035040" cy="2811780"/>
          </a:xfrm>
          <a:prstGeom prst="rect">
            <a:avLst/>
          </a:prstGeom>
        </p:spPr>
      </p:pic>
      <p:sp>
        <p:nvSpPr>
          <p:cNvPr id="8" name="TextBox 7"/>
          <p:cNvSpPr txBox="1"/>
          <p:nvPr/>
        </p:nvSpPr>
        <p:spPr>
          <a:xfrm>
            <a:off x="822960" y="5120640"/>
            <a:ext cx="6035040" cy="365760"/>
          </a:xfrm>
          <a:prstGeom prst="rect">
            <a:avLst/>
          </a:prstGeom>
          <a:noFill/>
        </p:spPr>
        <p:txBody>
          <a:bodyPr wrap="none">
            <a:spAutoFit/>
          </a:bodyPr>
          <a:lstStyle/>
          <a:p>
            <a:pPr>
              <a:defRPr sz="1100">
                <a:solidFill>
                  <a:srgbClr val="64748B"/>
                </a:solidFill>
              </a:defRPr>
            </a:pPr>
            <a:r>
              <a:t>FIGURE 1: Logical Subsystem Architecture (Report Reference)</a:t>
            </a:r>
          </a:p>
        </p:txBody>
      </p:sp>
      <p:sp>
        <p:nvSpPr>
          <p:cNvPr id="9" name="Rounded Rectangle 8"/>
          <p:cNvSpPr/>
          <p:nvPr/>
        </p:nvSpPr>
        <p:spPr>
          <a:xfrm>
            <a:off x="7132320" y="1645920"/>
            <a:ext cx="4327855" cy="1234440"/>
          </a:xfrm>
          <a:prstGeom prst="roundRect">
            <a:avLst/>
          </a:prstGeom>
          <a:solidFill>
            <a:srgbClr val="FFFFFF"/>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9480" y="1737360"/>
            <a:ext cx="4069080" cy="1051560"/>
          </a:xfrm>
          <a:prstGeom prst="rect">
            <a:avLst/>
          </a:prstGeom>
          <a:noFill/>
        </p:spPr>
        <p:txBody>
          <a:bodyPr wrap="square">
            <a:spAutoFit/>
          </a:bodyPr>
          <a:lstStyle/>
          <a:p>
            <a:pPr>
              <a:defRPr sz="1200" b="1">
                <a:solidFill>
                  <a:srgbClr val="059669"/>
                </a:solidFill>
              </a:defRPr>
            </a:pPr>
            <a:r>
              <a:t>1. MAIN ROVER CONTROLLER (ESP32)</a:t>
            </a:r>
          </a:p>
          <a:p>
            <a:pPr>
              <a:defRPr sz="1100">
                <a:solidFill>
                  <a:srgbClr val="334155"/>
                </a:solidFill>
              </a:defRPr>
            </a:pPr>
            <a:r>
              <a:t>• Dual-Core 240MHz MCU dedicated to FreeRTOS.</a:t>
            </a:r>
            <a:br/>
            <a:r>
              <a:t>• Owns: Motor PWM, ultrasonic echo timing, LoRa radio.</a:t>
            </a:r>
            <a:br/>
            <a:r>
              <a:t>• Isolated: Never runs blocking cloud API calls.</a:t>
            </a:r>
          </a:p>
        </p:txBody>
      </p:sp>
      <p:sp>
        <p:nvSpPr>
          <p:cNvPr id="11" name="Rounded Rectangle 10"/>
          <p:cNvSpPr/>
          <p:nvPr/>
        </p:nvSpPr>
        <p:spPr>
          <a:xfrm>
            <a:off x="7132320" y="2971800"/>
            <a:ext cx="4327855" cy="1234440"/>
          </a:xfrm>
          <a:prstGeom prst="roundRect">
            <a:avLst/>
          </a:prstGeom>
          <a:solidFill>
            <a:srgbClr val="FFFFFF"/>
          </a:solidFill>
          <a:ln w="1524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063240"/>
            <a:ext cx="4069080" cy="1051560"/>
          </a:xfrm>
          <a:prstGeom prst="rect">
            <a:avLst/>
          </a:prstGeom>
          <a:noFill/>
        </p:spPr>
        <p:txBody>
          <a:bodyPr wrap="square">
            <a:spAutoFit/>
          </a:bodyPr>
          <a:lstStyle/>
          <a:p>
            <a:pPr>
              <a:defRPr sz="1200" b="1">
                <a:solidFill>
                  <a:srgbClr val="1D4ED8"/>
                </a:solidFill>
              </a:defRPr>
            </a:pPr>
            <a:r>
              <a:t>2. ONBOARD VISION NODE (ESP32-CAM)</a:t>
            </a:r>
          </a:p>
          <a:p>
            <a:pPr>
              <a:defRPr sz="1100">
                <a:solidFill>
                  <a:srgbClr val="334155"/>
                </a:solidFill>
              </a:defRPr>
            </a:pPr>
            <a:r>
              <a:t>• Dedicated OV2640 2MP Camera Controller.</a:t>
            </a:r>
            <a:br/>
            <a:r>
              <a:t>• Streams video &amp; captures snapshots over 2.4 GHz Wi-Fi.</a:t>
            </a:r>
            <a:br/>
            <a:r>
              <a:t>• Isolated: Camera resets cannot crash motor safety.</a:t>
            </a:r>
          </a:p>
        </p:txBody>
      </p:sp>
      <p:sp>
        <p:nvSpPr>
          <p:cNvPr id="13" name="Rounded Rectangle 12"/>
          <p:cNvSpPr/>
          <p:nvPr/>
        </p:nvSpPr>
        <p:spPr>
          <a:xfrm>
            <a:off x="7132320" y="4297680"/>
            <a:ext cx="4327855" cy="1234440"/>
          </a:xfrm>
          <a:prstGeom prst="roundRect">
            <a:avLst/>
          </a:prstGeom>
          <a:solidFill>
            <a:srgbClr val="FFFFFF"/>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4389120"/>
            <a:ext cx="4069080" cy="1051560"/>
          </a:xfrm>
          <a:prstGeom prst="rect">
            <a:avLst/>
          </a:prstGeom>
          <a:noFill/>
        </p:spPr>
        <p:txBody>
          <a:bodyPr wrap="square">
            <a:spAutoFit/>
          </a:bodyPr>
          <a:lstStyle/>
          <a:p>
            <a:pPr>
              <a:defRPr sz="1200" b="1">
                <a:solidFill>
                  <a:srgbClr val="D97706"/>
                </a:solidFill>
              </a:defRPr>
            </a:pPr>
            <a:r>
              <a:t>3. GROUND GATEWAY &amp; MISSION CONTROL</a:t>
            </a:r>
          </a:p>
          <a:p>
            <a:pPr>
              <a:defRPr sz="1100">
                <a:solidFill>
                  <a:srgbClr val="334155"/>
                </a:solidFill>
              </a:defRPr>
            </a:pPr>
            <a:r>
              <a:t>• Laptop running Python FastAPI + WebSockets dashboard.</a:t>
            </a:r>
            <a:br/>
            <a:r>
              <a:t>• Bridges LoRa radio, securely stores OpenAI API keys.</a:t>
            </a:r>
            <a:br/>
            <a:r>
              <a:t>• Validates all AI actions against strict JSON allowlists.</a:t>
            </a:r>
          </a:p>
        </p:txBody>
      </p:sp>
      <p:sp>
        <p:nvSpPr>
          <p:cNvPr id="15" name="Rounded Rectangle 14"/>
          <p:cNvSpPr/>
          <p:nvPr/>
        </p:nvSpPr>
        <p:spPr>
          <a:xfrm>
            <a:off x="731520" y="5669280"/>
            <a:ext cx="3474720"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715000"/>
            <a:ext cx="3200400" cy="685800"/>
          </a:xfrm>
          <a:prstGeom prst="rect">
            <a:avLst/>
          </a:prstGeom>
          <a:noFill/>
        </p:spPr>
        <p:txBody>
          <a:bodyPr wrap="square">
            <a:spAutoFit/>
          </a:bodyPr>
          <a:lstStyle/>
          <a:p>
            <a:pPr>
              <a:defRPr sz="1100" b="1">
                <a:solidFill>
                  <a:srgbClr val="1D4ED8"/>
                </a:solidFill>
              </a:defRPr>
            </a:pPr>
            <a:r>
              <a:t>POWER ISOLATION</a:t>
            </a:r>
          </a:p>
          <a:p>
            <a:pPr>
              <a:defRPr sz="1050">
                <a:solidFill>
                  <a:srgbClr val="334155"/>
                </a:solidFill>
              </a:defRPr>
            </a:pPr>
            <a:r>
              <a:t>Split-rail motor VM isolated from 3.3V logic to eliminate brownouts.</a:t>
            </a:r>
          </a:p>
        </p:txBody>
      </p:sp>
      <p:sp>
        <p:nvSpPr>
          <p:cNvPr id="17" name="Rounded Rectangle 16"/>
          <p:cNvSpPr/>
          <p:nvPr/>
        </p:nvSpPr>
        <p:spPr>
          <a:xfrm>
            <a:off x="4343400" y="5669280"/>
            <a:ext cx="3474720"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5715000"/>
            <a:ext cx="3200400" cy="685800"/>
          </a:xfrm>
          <a:prstGeom prst="rect">
            <a:avLst/>
          </a:prstGeom>
          <a:noFill/>
        </p:spPr>
        <p:txBody>
          <a:bodyPr wrap="square">
            <a:spAutoFit/>
          </a:bodyPr>
          <a:lstStyle/>
          <a:p>
            <a:pPr>
              <a:defRPr sz="1100" b="1">
                <a:solidFill>
                  <a:srgbClr val="1D4ED8"/>
                </a:solidFill>
              </a:defRPr>
            </a:pPr>
            <a:r>
              <a:t>LEVEL SHIFTING</a:t>
            </a:r>
          </a:p>
          <a:p>
            <a:pPr>
              <a:defRPr sz="1050">
                <a:solidFill>
                  <a:srgbClr val="334155"/>
                </a:solidFill>
              </a:defRPr>
            </a:pPr>
            <a:r>
              <a:t>HC-SR04 5V echo stepped down to 3.3V to protect ESP32 silicon.</a:t>
            </a:r>
          </a:p>
        </p:txBody>
      </p:sp>
      <p:sp>
        <p:nvSpPr>
          <p:cNvPr id="19" name="Rounded Rectangle 18"/>
          <p:cNvSpPr/>
          <p:nvPr/>
        </p:nvSpPr>
        <p:spPr>
          <a:xfrm>
            <a:off x="7955280" y="5669280"/>
            <a:ext cx="3474720"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5715000"/>
            <a:ext cx="3200400" cy="685800"/>
          </a:xfrm>
          <a:prstGeom prst="rect">
            <a:avLst/>
          </a:prstGeom>
          <a:noFill/>
        </p:spPr>
        <p:txBody>
          <a:bodyPr wrap="square">
            <a:spAutoFit/>
          </a:bodyPr>
          <a:lstStyle/>
          <a:p>
            <a:pPr>
              <a:defRPr sz="1100" b="1">
                <a:solidFill>
                  <a:srgbClr val="1D4ED8"/>
                </a:solidFill>
              </a:defRPr>
            </a:pPr>
            <a:r>
              <a:t>ZERO API LATENCY</a:t>
            </a:r>
          </a:p>
          <a:p>
            <a:pPr>
              <a:defRPr sz="1050">
                <a:solidFill>
                  <a:srgbClr val="334155"/>
                </a:solidFill>
              </a:defRPr>
            </a:pPr>
            <a:r>
              <a:t>Local FreeRTOS loop executes at 50Hz; zero cloud dependency for braking.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OPERATIONAL WORKFLOW</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The 5-Step Guarded Loop &amp; Real-Time State Machine</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How AURA-X translates high-level human intent into safe, validated micro-movements:</a:t>
            </a:r>
          </a:p>
        </p:txBody>
      </p:sp>
      <p:sp>
        <p:nvSpPr>
          <p:cNvPr id="6" name="Rounded Rectangle 5"/>
          <p:cNvSpPr/>
          <p:nvPr/>
        </p:nvSpPr>
        <p:spPr>
          <a:xfrm>
            <a:off x="731520" y="1645920"/>
            <a:ext cx="5943600" cy="804672"/>
          </a:xfrm>
          <a:prstGeom prst="roundRect">
            <a:avLst/>
          </a:prstGeom>
          <a:solidFill>
            <a:srgbClr val="FFFFFF"/>
          </a:solidFill>
          <a:ln w="1524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19072"/>
            <a:ext cx="5669280" cy="658368"/>
          </a:xfrm>
          <a:prstGeom prst="rect">
            <a:avLst/>
          </a:prstGeom>
          <a:noFill/>
        </p:spPr>
        <p:txBody>
          <a:bodyPr wrap="square">
            <a:spAutoFit/>
          </a:bodyPr>
          <a:lstStyle/>
          <a:p>
            <a:pPr>
              <a:defRPr sz="1100" b="1">
                <a:solidFill>
                  <a:srgbClr val="1D4ED8"/>
                </a:solidFill>
              </a:defRPr>
            </a:pPr>
            <a:r>
              <a:t>1. MISSION DISPATCH</a:t>
            </a:r>
          </a:p>
          <a:p>
            <a:pPr>
              <a:defRPr sz="1100">
                <a:solidFill>
                  <a:srgbClr val="334155"/>
                </a:solidFill>
              </a:defRPr>
            </a:pPr>
            <a:r>
              <a:t>Operator enters goal (e.g., 'Inspect collapsed corridor for red valve'). Gateway converts it into JSON schema (M-001).</a:t>
            </a:r>
          </a:p>
        </p:txBody>
      </p:sp>
      <p:sp>
        <p:nvSpPr>
          <p:cNvPr id="8" name="Rounded Rectangle 7"/>
          <p:cNvSpPr/>
          <p:nvPr/>
        </p:nvSpPr>
        <p:spPr>
          <a:xfrm>
            <a:off x="731520" y="2514600"/>
            <a:ext cx="5943600" cy="804672"/>
          </a:xfrm>
          <a:prstGeom prst="roundRect">
            <a:avLst/>
          </a:prstGeom>
          <a:solidFill>
            <a:srgbClr val="FFFFFF"/>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587752"/>
            <a:ext cx="5669280" cy="658368"/>
          </a:xfrm>
          <a:prstGeom prst="rect">
            <a:avLst/>
          </a:prstGeom>
          <a:noFill/>
        </p:spPr>
        <p:txBody>
          <a:bodyPr wrap="square">
            <a:spAutoFit/>
          </a:bodyPr>
          <a:lstStyle/>
          <a:p>
            <a:pPr>
              <a:defRPr sz="1100" b="1">
                <a:solidFill>
                  <a:srgbClr val="0F172A"/>
                </a:solidFill>
              </a:defRPr>
            </a:pPr>
            <a:r>
              <a:t>2. ADVISORY AI ANALYSIS</a:t>
            </a:r>
          </a:p>
          <a:p>
            <a:pPr>
              <a:defRPr sz="1100">
                <a:solidFill>
                  <a:srgbClr val="334155"/>
                </a:solidFill>
              </a:defRPr>
            </a:pPr>
            <a:r>
              <a:t>Gateway sends camera snapshot to GPT-4o Vision. AI suggests bounded action: 'TURN_LEFT 30°' or 'MOVE_FORWARD 20cm'.</a:t>
            </a:r>
          </a:p>
        </p:txBody>
      </p:sp>
      <p:sp>
        <p:nvSpPr>
          <p:cNvPr id="10" name="Rounded Rectangle 9"/>
          <p:cNvSpPr/>
          <p:nvPr/>
        </p:nvSpPr>
        <p:spPr>
          <a:xfrm>
            <a:off x="731520" y="3383280"/>
            <a:ext cx="5943600" cy="804672"/>
          </a:xfrm>
          <a:prstGeom prst="roundRect">
            <a:avLst/>
          </a:prstGeom>
          <a:solidFill>
            <a:srgbClr val="FFFFFF"/>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56432"/>
            <a:ext cx="5669280" cy="658368"/>
          </a:xfrm>
          <a:prstGeom prst="rect">
            <a:avLst/>
          </a:prstGeom>
          <a:noFill/>
        </p:spPr>
        <p:txBody>
          <a:bodyPr wrap="square">
            <a:spAutoFit/>
          </a:bodyPr>
          <a:lstStyle/>
          <a:p>
            <a:pPr>
              <a:defRPr sz="1100" b="1">
                <a:solidFill>
                  <a:srgbClr val="D97706"/>
                </a:solidFill>
              </a:defRPr>
            </a:pPr>
            <a:r>
              <a:t>3. DUAL-GATE VALIDATION</a:t>
            </a:r>
          </a:p>
          <a:p>
            <a:pPr>
              <a:defRPr sz="1100">
                <a:solidFill>
                  <a:srgbClr val="334155"/>
                </a:solidFill>
              </a:defRPr>
            </a:pPr>
            <a:r>
              <a:t>Gateway checks action against safety allowlist; attaches sequence ID and 1.0s expiration lease.</a:t>
            </a:r>
          </a:p>
        </p:txBody>
      </p:sp>
      <p:sp>
        <p:nvSpPr>
          <p:cNvPr id="12" name="Rounded Rectangle 11"/>
          <p:cNvSpPr/>
          <p:nvPr/>
        </p:nvSpPr>
        <p:spPr>
          <a:xfrm>
            <a:off x="731520" y="4251959"/>
            <a:ext cx="5943600" cy="804672"/>
          </a:xfrm>
          <a:prstGeom prst="roundRect">
            <a:avLst/>
          </a:prstGeom>
          <a:solidFill>
            <a:srgbClr val="FFFFFF"/>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325111"/>
            <a:ext cx="5669280" cy="658368"/>
          </a:xfrm>
          <a:prstGeom prst="rect">
            <a:avLst/>
          </a:prstGeom>
          <a:noFill/>
        </p:spPr>
        <p:txBody>
          <a:bodyPr wrap="square">
            <a:spAutoFit/>
          </a:bodyPr>
          <a:lstStyle/>
          <a:p>
            <a:pPr>
              <a:defRPr sz="1100" b="1">
                <a:solidFill>
                  <a:srgbClr val="059669"/>
                </a:solidFill>
              </a:defRPr>
            </a:pPr>
            <a:r>
              <a:t>4. SENSOR CLEARANCE GUARD</a:t>
            </a:r>
          </a:p>
          <a:p>
            <a:pPr>
              <a:defRPr sz="1100">
                <a:solidFill>
                  <a:srgbClr val="334155"/>
                </a:solidFill>
              </a:defRPr>
            </a:pPr>
            <a:r>
              <a:t>Before firing PWM, ESP32 samples ultrasonic sensor. If clearance &lt; 28 cm, command is vetoed instantly.</a:t>
            </a:r>
          </a:p>
        </p:txBody>
      </p:sp>
      <p:sp>
        <p:nvSpPr>
          <p:cNvPr id="14" name="Rounded Rectangle 13"/>
          <p:cNvSpPr/>
          <p:nvPr/>
        </p:nvSpPr>
        <p:spPr>
          <a:xfrm>
            <a:off x="731520" y="5120640"/>
            <a:ext cx="5943600" cy="804672"/>
          </a:xfrm>
          <a:prstGeom prst="roundRect">
            <a:avLst/>
          </a:prstGeom>
          <a:solidFill>
            <a:srgbClr val="FFFFFF"/>
          </a:solidFill>
          <a:ln w="1524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193792"/>
            <a:ext cx="5669280" cy="658368"/>
          </a:xfrm>
          <a:prstGeom prst="rect">
            <a:avLst/>
          </a:prstGeom>
          <a:noFill/>
        </p:spPr>
        <p:txBody>
          <a:bodyPr wrap="square">
            <a:spAutoFit/>
          </a:bodyPr>
          <a:lstStyle/>
          <a:p>
            <a:pPr>
              <a:defRPr sz="1100" b="1">
                <a:solidFill>
                  <a:srgbClr val="1D4ED8"/>
                </a:solidFill>
              </a:defRPr>
            </a:pPr>
            <a:r>
              <a:t>5. BOUNDED EXECUTION</a:t>
            </a:r>
          </a:p>
          <a:p>
            <a:pPr>
              <a:defRPr sz="1100">
                <a:solidFill>
                  <a:srgbClr val="334155"/>
                </a:solidFill>
              </a:defRPr>
            </a:pPr>
            <a:r>
              <a:t>Motors execute micro-burst. Status, heading, and packet ACK are returned over 433 MHz LoRa.</a:t>
            </a:r>
          </a:p>
        </p:txBody>
      </p:sp>
      <p:sp>
        <p:nvSpPr>
          <p:cNvPr id="16" name="Rounded Rectangle 15"/>
          <p:cNvSpPr/>
          <p:nvPr/>
        </p:nvSpPr>
        <p:spPr>
          <a:xfrm>
            <a:off x="6858000" y="1645920"/>
            <a:ext cx="4602175"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ver_State_Machine.png"/>
          <p:cNvPicPr>
            <a:picLocks noChangeAspect="1"/>
          </p:cNvPicPr>
          <p:nvPr/>
        </p:nvPicPr>
        <p:blipFill>
          <a:blip r:embed="rId2"/>
          <a:stretch>
            <a:fillRect/>
          </a:stretch>
        </p:blipFill>
        <p:spPr>
          <a:xfrm>
            <a:off x="6949440" y="1737360"/>
            <a:ext cx="4419295" cy="3144817"/>
          </a:xfrm>
          <a:prstGeom prst="rect">
            <a:avLst/>
          </a:prstGeom>
        </p:spPr>
      </p:pic>
      <p:sp>
        <p:nvSpPr>
          <p:cNvPr id="18" name="Rounded Rectangle 17"/>
          <p:cNvSpPr/>
          <p:nvPr/>
        </p:nvSpPr>
        <p:spPr>
          <a:xfrm>
            <a:off x="6858000" y="5029200"/>
            <a:ext cx="4602175" cy="137160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95160" y="5074920"/>
            <a:ext cx="4297680" cy="1280160"/>
          </a:xfrm>
          <a:prstGeom prst="rect">
            <a:avLst/>
          </a:prstGeom>
          <a:noFill/>
        </p:spPr>
        <p:txBody>
          <a:bodyPr wrap="square">
            <a:spAutoFit/>
          </a:bodyPr>
          <a:lstStyle/>
          <a:p>
            <a:pPr>
              <a:defRPr sz="1100" b="1">
                <a:solidFill>
                  <a:srgbClr val="1D4ED8"/>
                </a:solidFill>
              </a:defRPr>
            </a:pPr>
            <a:r>
              <a:t>REAL-TIME STATE MACHINE TRANSITIONS:</a:t>
            </a:r>
          </a:p>
          <a:p>
            <a:pPr>
              <a:defRPr sz="1050">
                <a:solidFill>
                  <a:srgbClr val="0F172A"/>
                </a:solidFill>
              </a:defRPr>
            </a:pPr>
            <a:r>
              <a:t>• INIT: Self-test, sensor calibration &amp; LoRa sync.</a:t>
            </a:r>
            <a:br/>
            <a:r>
              <a:t>• MANUAL_DRIVE: Human teleoperation with 1.0s keep-alive.</a:t>
            </a:r>
            <a:br/>
            <a:r>
              <a:t>• AUTO_AVOIDANCE: Reactive routine (drive, detect, stop, pivot).</a:t>
            </a:r>
            <a:br/>
            <a:r>
              <a:t>• SAFE_STOP: Latches instantly on E-Stop, obstacle, or link loss.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PROTOTYPE EMBODIMENT</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The AURA-X Concept Prototype</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Systematic integration of active sensor pods, split-rail power, dual antennas, and rugged mobility:</a:t>
            </a:r>
          </a:p>
        </p:txBody>
      </p:sp>
      <p:sp>
        <p:nvSpPr>
          <p:cNvPr id="6" name="Rounded Rectangle 5"/>
          <p:cNvSpPr/>
          <p:nvPr/>
        </p:nvSpPr>
        <p:spPr>
          <a:xfrm>
            <a:off x="731520" y="1645920"/>
            <a:ext cx="6766560" cy="41148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URA_X_Concept_Rover.png"/>
          <p:cNvPicPr>
            <a:picLocks noChangeAspect="1"/>
          </p:cNvPicPr>
          <p:nvPr/>
        </p:nvPicPr>
        <p:blipFill>
          <a:blip r:embed="rId2"/>
          <a:stretch>
            <a:fillRect/>
          </a:stretch>
        </p:blipFill>
        <p:spPr>
          <a:xfrm>
            <a:off x="822960" y="1737360"/>
            <a:ext cx="6583680" cy="3705289"/>
          </a:xfrm>
          <a:prstGeom prst="rect">
            <a:avLst/>
          </a:prstGeom>
        </p:spPr>
      </p:pic>
      <p:sp>
        <p:nvSpPr>
          <p:cNvPr id="8" name="Rounded Rectangle 7"/>
          <p:cNvSpPr/>
          <p:nvPr/>
        </p:nvSpPr>
        <p:spPr>
          <a:xfrm>
            <a:off x="822960" y="4937760"/>
            <a:ext cx="6583680" cy="7315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983480"/>
            <a:ext cx="6309360" cy="640080"/>
          </a:xfrm>
          <a:prstGeom prst="rect">
            <a:avLst/>
          </a:prstGeom>
          <a:noFill/>
        </p:spPr>
        <p:txBody>
          <a:bodyPr wrap="square">
            <a:spAutoFit/>
          </a:bodyPr>
          <a:lstStyle/>
          <a:p>
            <a:pPr>
              <a:defRPr sz="1000" b="1">
                <a:solidFill>
                  <a:srgbClr val="1D4ED8"/>
                </a:solidFill>
              </a:defRPr>
            </a:pPr>
            <a:r>
              <a:t>CONCEPT PROTOTYPE BENCHMARK (DESIGN TARGET)</a:t>
            </a:r>
          </a:p>
          <a:p>
            <a:pPr>
              <a:defRPr sz="1000">
                <a:solidFill>
                  <a:srgbClr val="334155"/>
                </a:solidFill>
              </a:defRPr>
            </a:pPr>
            <a:r>
              <a:t>Illustrates the target mechanical packaging and all-terrain suspension. All onboard electronics, dual MCUs, and safety routines are bench-tested and verified.</a:t>
            </a:r>
          </a:p>
        </p:txBody>
      </p:sp>
      <p:sp>
        <p:nvSpPr>
          <p:cNvPr id="10" name="Rounded Rectangle 9"/>
          <p:cNvSpPr/>
          <p:nvPr/>
        </p:nvSpPr>
        <p:spPr>
          <a:xfrm>
            <a:off x="7680960" y="1645920"/>
            <a:ext cx="3779215" cy="932688"/>
          </a:xfrm>
          <a:prstGeom prst="roundRect">
            <a:avLst/>
          </a:prstGeom>
          <a:solidFill>
            <a:srgbClr val="FFFFFF"/>
          </a:solidFill>
          <a:ln w="1524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1719072"/>
            <a:ext cx="3520440" cy="786384"/>
          </a:xfrm>
          <a:prstGeom prst="rect">
            <a:avLst/>
          </a:prstGeom>
          <a:noFill/>
        </p:spPr>
        <p:txBody>
          <a:bodyPr wrap="square">
            <a:spAutoFit/>
          </a:bodyPr>
          <a:lstStyle/>
          <a:p>
            <a:pPr>
              <a:defRPr sz="1100" b="1">
                <a:solidFill>
                  <a:srgbClr val="1D4ED8"/>
                </a:solidFill>
              </a:defRPr>
            </a:pPr>
            <a:r>
              <a:t>1. VISION MAST</a:t>
            </a:r>
          </a:p>
          <a:p>
            <a:pPr>
              <a:defRPr sz="1050">
                <a:solidFill>
                  <a:srgbClr val="334155"/>
                </a:solidFill>
              </a:defRPr>
            </a:pPr>
            <a:r>
              <a:t>ESP32-CAM with OV2640 sensor &amp; high-lumen LED floodlight for subterranean voids.</a:t>
            </a:r>
          </a:p>
        </p:txBody>
      </p:sp>
      <p:sp>
        <p:nvSpPr>
          <p:cNvPr id="12" name="Rounded Rectangle 11"/>
          <p:cNvSpPr/>
          <p:nvPr/>
        </p:nvSpPr>
        <p:spPr>
          <a:xfrm>
            <a:off x="7680960" y="2651760"/>
            <a:ext cx="3779215" cy="932688"/>
          </a:xfrm>
          <a:prstGeom prst="roundRect">
            <a:avLst/>
          </a:prstGeom>
          <a:solidFill>
            <a:srgbClr val="FFFFFF"/>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8120" y="2724912"/>
            <a:ext cx="3520440" cy="786384"/>
          </a:xfrm>
          <a:prstGeom prst="rect">
            <a:avLst/>
          </a:prstGeom>
          <a:noFill/>
        </p:spPr>
        <p:txBody>
          <a:bodyPr wrap="square">
            <a:spAutoFit/>
          </a:bodyPr>
          <a:lstStyle/>
          <a:p>
            <a:pPr>
              <a:defRPr sz="1100" b="1">
                <a:solidFill>
                  <a:srgbClr val="0F172A"/>
                </a:solidFill>
              </a:defRPr>
            </a:pPr>
            <a:r>
              <a:t>2. DUAL ANTENNAS</a:t>
            </a:r>
          </a:p>
          <a:p>
            <a:pPr>
              <a:defRPr sz="1050">
                <a:solidFill>
                  <a:srgbClr val="334155"/>
                </a:solidFill>
              </a:defRPr>
            </a:pPr>
            <a:r>
              <a:t>Tuned 433 MHz LoRa whip for rubble penetration + 2.4 GHz Wi-Fi trace.</a:t>
            </a:r>
          </a:p>
        </p:txBody>
      </p:sp>
      <p:sp>
        <p:nvSpPr>
          <p:cNvPr id="14" name="Rounded Rectangle 13"/>
          <p:cNvSpPr/>
          <p:nvPr/>
        </p:nvSpPr>
        <p:spPr>
          <a:xfrm>
            <a:off x="7680960" y="3657600"/>
            <a:ext cx="3779215" cy="932688"/>
          </a:xfrm>
          <a:prstGeom prst="roundRect">
            <a:avLst/>
          </a:prstGeom>
          <a:solidFill>
            <a:srgbClr val="FFFFFF"/>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3730752"/>
            <a:ext cx="3520440" cy="786384"/>
          </a:xfrm>
          <a:prstGeom prst="rect">
            <a:avLst/>
          </a:prstGeom>
          <a:noFill/>
        </p:spPr>
        <p:txBody>
          <a:bodyPr wrap="square">
            <a:spAutoFit/>
          </a:bodyPr>
          <a:lstStyle/>
          <a:p>
            <a:pPr>
              <a:defRPr sz="1100" b="1">
                <a:solidFill>
                  <a:srgbClr val="059669"/>
                </a:solidFill>
              </a:defRPr>
            </a:pPr>
            <a:r>
              <a:t>3. SENSOR POD</a:t>
            </a:r>
          </a:p>
          <a:p>
            <a:pPr>
              <a:defRPr sz="1050">
                <a:solidFill>
                  <a:srgbClr val="334155"/>
                </a:solidFill>
              </a:defRPr>
            </a:pPr>
            <a:r>
              <a:t>Level-shifted HC-SR04 ultrasonic array enforcing 28cm safety envelope.</a:t>
            </a:r>
          </a:p>
        </p:txBody>
      </p:sp>
      <p:sp>
        <p:nvSpPr>
          <p:cNvPr id="16" name="Rounded Rectangle 15"/>
          <p:cNvSpPr/>
          <p:nvPr/>
        </p:nvSpPr>
        <p:spPr>
          <a:xfrm>
            <a:off x="7680960" y="4663440"/>
            <a:ext cx="3779215" cy="932688"/>
          </a:xfrm>
          <a:prstGeom prst="roundRect">
            <a:avLst/>
          </a:prstGeom>
          <a:solidFill>
            <a:srgbClr val="FFFFFF"/>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18120" y="4736592"/>
            <a:ext cx="3520440" cy="786384"/>
          </a:xfrm>
          <a:prstGeom prst="rect">
            <a:avLst/>
          </a:prstGeom>
          <a:noFill/>
        </p:spPr>
        <p:txBody>
          <a:bodyPr wrap="square">
            <a:spAutoFit/>
          </a:bodyPr>
          <a:lstStyle/>
          <a:p>
            <a:pPr>
              <a:defRPr sz="1100" b="1">
                <a:solidFill>
                  <a:srgbClr val="D97706"/>
                </a:solidFill>
              </a:defRPr>
            </a:pPr>
            <a:r>
              <a:t>4. GEARED DRIVE</a:t>
            </a:r>
          </a:p>
          <a:p>
            <a:pPr>
              <a:defRPr sz="1050">
                <a:solidFill>
                  <a:srgbClr val="334155"/>
                </a:solidFill>
              </a:defRPr>
            </a:pPr>
            <a:r>
              <a:t>High-torque 4WD DC actuators powered via DRV8833/L298N H-bridge.</a:t>
            </a:r>
          </a:p>
        </p:txBody>
      </p:sp>
      <p:sp>
        <p:nvSpPr>
          <p:cNvPr id="18" name="Rounded Rectangle 17"/>
          <p:cNvSpPr/>
          <p:nvPr/>
        </p:nvSpPr>
        <p:spPr>
          <a:xfrm>
            <a:off x="731520" y="5806440"/>
            <a:ext cx="10728655" cy="594360"/>
          </a:xfrm>
          <a:prstGeom prst="roundRect">
            <a:avLst/>
          </a:prstGeom>
          <a:solidFill>
            <a:srgbClr val="EFF6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833872"/>
            <a:ext cx="10332720" cy="502920"/>
          </a:xfrm>
          <a:prstGeom prst="rect">
            <a:avLst/>
          </a:prstGeom>
          <a:noFill/>
        </p:spPr>
        <p:txBody>
          <a:bodyPr wrap="none">
            <a:spAutoFit/>
          </a:bodyPr>
          <a:lstStyle/>
          <a:p>
            <a:pPr>
              <a:defRPr sz="1050" b="1">
                <a:solidFill>
                  <a:srgbClr val="1D4ED8"/>
                </a:solidFill>
              </a:defRPr>
            </a:pPr>
            <a:r>
              <a:t>HARDWARE INTEGRITY: Every subsystem shown corresponds to bench-verified components in our project report. Motors, LoRa, and ultrasonic safety have passed full lab testing.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COMMUNICATION ENGINEERING</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Asymmetric Dual-Spectrum Architecture</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High-bandwidth video for vision vs. ultra-reliable low-frequency LoRa for control:</a:t>
            </a:r>
          </a:p>
        </p:txBody>
      </p:sp>
      <p:sp>
        <p:nvSpPr>
          <p:cNvPr id="6" name="Rounded Rectangle 5"/>
          <p:cNvSpPr/>
          <p:nvPr/>
        </p:nvSpPr>
        <p:spPr>
          <a:xfrm>
            <a:off x="731520" y="1645920"/>
            <a:ext cx="3931920" cy="4023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Fi_and_LoRa_Communication.png"/>
          <p:cNvPicPr>
            <a:picLocks noChangeAspect="1"/>
          </p:cNvPicPr>
          <p:nvPr/>
        </p:nvPicPr>
        <p:blipFill>
          <a:blip r:embed="rId2"/>
          <a:stretch>
            <a:fillRect/>
          </a:stretch>
        </p:blipFill>
        <p:spPr>
          <a:xfrm>
            <a:off x="914400" y="1737360"/>
            <a:ext cx="3566160" cy="4134020"/>
          </a:xfrm>
          <a:prstGeom prst="rect">
            <a:avLst/>
          </a:prstGeom>
        </p:spPr>
      </p:pic>
      <p:sp>
        <p:nvSpPr>
          <p:cNvPr id="8" name="TextBox 7"/>
          <p:cNvSpPr txBox="1"/>
          <p:nvPr/>
        </p:nvSpPr>
        <p:spPr>
          <a:xfrm>
            <a:off x="822960" y="5303520"/>
            <a:ext cx="3749039" cy="320040"/>
          </a:xfrm>
          <a:prstGeom prst="rect">
            <a:avLst/>
          </a:prstGeom>
          <a:noFill/>
        </p:spPr>
        <p:txBody>
          <a:bodyPr wrap="none">
            <a:spAutoFit/>
          </a:bodyPr>
          <a:lstStyle/>
          <a:p>
            <a:pPr>
              <a:defRPr sz="1000">
                <a:solidFill>
                  <a:srgbClr val="64748B"/>
                </a:solidFill>
              </a:defRPr>
            </a:pPr>
            <a:r>
              <a:t>FIGURE 2: Split Communication Channels &amp; Data Paths</a:t>
            </a:r>
          </a:p>
        </p:txBody>
      </p:sp>
      <p:sp>
        <p:nvSpPr>
          <p:cNvPr id="9" name="Rounded Rectangle 8"/>
          <p:cNvSpPr/>
          <p:nvPr/>
        </p:nvSpPr>
        <p:spPr>
          <a:xfrm>
            <a:off x="4846320" y="1645920"/>
            <a:ext cx="6613855" cy="192024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0" y="1755648"/>
            <a:ext cx="6217920" cy="1691640"/>
          </a:xfrm>
          <a:prstGeom prst="rect">
            <a:avLst/>
          </a:prstGeom>
          <a:noFill/>
        </p:spPr>
        <p:txBody>
          <a:bodyPr wrap="square">
            <a:spAutoFit/>
          </a:bodyPr>
          <a:lstStyle/>
          <a:p>
            <a:pPr>
              <a:defRPr sz="1200" b="1">
                <a:solidFill>
                  <a:srgbClr val="1D4ED8"/>
                </a:solidFill>
              </a:defRPr>
            </a:pPr>
            <a:r>
              <a:t>CHANNEL 1: 2.4 GHz WI-FI (VISION PIPELINE)</a:t>
            </a:r>
          </a:p>
          <a:p>
            <a:pPr>
              <a:defRPr sz="1100">
                <a:solidFill>
                  <a:srgbClr val="334155"/>
                </a:solidFill>
              </a:defRPr>
            </a:pPr>
            <a:r>
              <a:t>• Hardware: ESP32-CAM 802.11 b/g/n Wi-Fi directly to ground gateway.</a:t>
            </a:r>
            <a:br/>
            <a:r>
              <a:t>• Transmitted Payload: MJPEG video stream (VGA) &amp; high-res snapshots for AI.</a:t>
            </a:r>
            <a:br/>
            <a:r>
              <a:t>• Bandwidth &amp; Range: 1–5 Mbps throughput; localized range (&lt;25m in rubble).</a:t>
            </a:r>
            <a:br/>
            <a:r>
              <a:t>• Failover Behavior: Best-effort. If signal drops, video pauses, but ROVER NEVER LOSES CONTROL OR SAFETY TELEMETRY.</a:t>
            </a:r>
          </a:p>
        </p:txBody>
      </p:sp>
      <p:sp>
        <p:nvSpPr>
          <p:cNvPr id="11" name="Rounded Rectangle 10"/>
          <p:cNvSpPr/>
          <p:nvPr/>
        </p:nvSpPr>
        <p:spPr>
          <a:xfrm>
            <a:off x="4846320" y="3703320"/>
            <a:ext cx="6613855" cy="192024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0" y="3813048"/>
            <a:ext cx="6217920" cy="1691640"/>
          </a:xfrm>
          <a:prstGeom prst="rect">
            <a:avLst/>
          </a:prstGeom>
          <a:noFill/>
        </p:spPr>
        <p:txBody>
          <a:bodyPr wrap="square">
            <a:spAutoFit/>
          </a:bodyPr>
          <a:lstStyle/>
          <a:p>
            <a:pPr>
              <a:defRPr sz="1200" b="1">
                <a:solidFill>
                  <a:srgbClr val="D97706"/>
                </a:solidFill>
              </a:defRPr>
            </a:pPr>
            <a:r>
              <a:t>CHANNEL 2: 433 MHz LoRa (TELEMETRY &amp; CONTROL BACKBONE)</a:t>
            </a:r>
          </a:p>
          <a:p>
            <a:pPr>
              <a:defRPr sz="1100">
                <a:solidFill>
                  <a:srgbClr val="334155"/>
                </a:solidFill>
              </a:defRPr>
            </a:pPr>
            <a:r>
              <a:t>• Hardware: Semtech SX1278 Chirp Spread Spectrum SPI transceiver.</a:t>
            </a:r>
            <a:br/>
            <a:r>
              <a:t>• Transmitted Payload: Compact framed binary packets (Version, Node ID, Seq #, Leased CMD, CRC, Telemetry).</a:t>
            </a:r>
            <a:br/>
            <a:r>
              <a:t>• Bandwidth &amp; Range: &lt;5 kbps bitrate; exceptional penetration (&gt;500m LOS, through concrete &amp; steel).</a:t>
            </a:r>
            <a:br/>
            <a:r>
              <a:t>• Failover Behavior: Heartbeat link. If command lease expires (&gt;1.0s), rover enters SAFE_STOP immediately.</a:t>
            </a:r>
          </a:p>
        </p:txBody>
      </p:sp>
      <p:sp>
        <p:nvSpPr>
          <p:cNvPr id="13" name="Rounded Rectangle 12"/>
          <p:cNvSpPr/>
          <p:nvPr/>
        </p:nvSpPr>
        <p:spPr>
          <a:xfrm>
            <a:off x="731520" y="5806440"/>
            <a:ext cx="10728655" cy="59436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833872"/>
            <a:ext cx="10332720" cy="502920"/>
          </a:xfrm>
          <a:prstGeom prst="rect">
            <a:avLst/>
          </a:prstGeom>
          <a:noFill/>
        </p:spPr>
        <p:txBody>
          <a:bodyPr wrap="none">
            <a:spAutoFit/>
          </a:bodyPr>
          <a:lstStyle/>
          <a:p>
            <a:pPr>
              <a:defRPr sz="1000">
                <a:solidFill>
                  <a:srgbClr val="0F172A"/>
                </a:solidFill>
              </a:defRPr>
            </a:pPr>
            <a:r>
              <a:t>REGULATORY COMPLIANCE: LoRa frequency (433 MHz) conforms to Indian DoT / WPC Equipment Type Approval standards for ISM bands. Architectural boundary: LoRa never transports video; Wi-Fi never carries critical motor safety commands.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ENGINEERING SPECIFICATIONS</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Full-Stack Engineering &amp; Electrical Protection</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Rigorous component selection designed to eliminate single points of failure and brownouts:</a:t>
            </a:r>
          </a:p>
        </p:txBody>
      </p:sp>
      <p:sp>
        <p:nvSpPr>
          <p:cNvPr id="6" name="Rounded Rectangle 5"/>
          <p:cNvSpPr/>
          <p:nvPr/>
        </p:nvSpPr>
        <p:spPr>
          <a:xfrm>
            <a:off x="731520" y="1645920"/>
            <a:ext cx="5257800" cy="201168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10512"/>
            <a:ext cx="4800600" cy="1737360"/>
          </a:xfrm>
          <a:prstGeom prst="rect">
            <a:avLst/>
          </a:prstGeom>
          <a:noFill/>
        </p:spPr>
        <p:txBody>
          <a:bodyPr wrap="square">
            <a:spAutoFit/>
          </a:bodyPr>
          <a:lstStyle/>
          <a:p>
            <a:pPr>
              <a:defRPr sz="1300" b="1">
                <a:solidFill>
                  <a:srgbClr val="1D4ED8"/>
                </a:solidFill>
              </a:defRPr>
            </a:pPr>
            <a:r>
              <a:t>COMPUTE &amp; ACTUATION</a:t>
            </a:r>
          </a:p>
          <a:p>
            <a:br/>
            <a:pPr>
              <a:defRPr sz="1150">
                <a:solidFill>
                  <a:srgbClr val="334155"/>
                </a:solidFill>
              </a:defRPr>
            </a:pPr>
            <a:r>
              <a:t>• Main MCU: ESP32-WROOM-32 (Dual-core 240MHz). FreeRTOS handles motor control &amp; LoRa.</a:t>
            </a:r>
            <a:br/>
            <a:r>
              <a:t>• Vision MCU: ESP32-CAM (AI-Thinker module, OV2640 2MP). Dedicated video capture.</a:t>
            </a:r>
            <a:br/>
            <a:r>
              <a:t>• Actuation: DRV8833 / L298N Dual H-Bridge driving 4x geared DC motors with flyback diodes.</a:t>
            </a:r>
          </a:p>
        </p:txBody>
      </p:sp>
      <p:sp>
        <p:nvSpPr>
          <p:cNvPr id="8" name="Rounded Rectangle 7"/>
          <p:cNvSpPr/>
          <p:nvPr/>
        </p:nvSpPr>
        <p:spPr>
          <a:xfrm>
            <a:off x="6172200" y="1645920"/>
            <a:ext cx="5257800" cy="201168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10512"/>
            <a:ext cx="4800600" cy="1737360"/>
          </a:xfrm>
          <a:prstGeom prst="rect">
            <a:avLst/>
          </a:prstGeom>
          <a:noFill/>
        </p:spPr>
        <p:txBody>
          <a:bodyPr wrap="square">
            <a:spAutoFit/>
          </a:bodyPr>
          <a:lstStyle/>
          <a:p>
            <a:pPr>
              <a:defRPr sz="1300" b="1">
                <a:solidFill>
                  <a:srgbClr val="059669"/>
                </a:solidFill>
              </a:defRPr>
            </a:pPr>
            <a:r>
              <a:t>SENSORS &amp; SIGNAL INTEGRITY</a:t>
            </a:r>
          </a:p>
          <a:p>
            <a:br/>
            <a:pPr>
              <a:defRPr sz="1150">
                <a:solidFill>
                  <a:srgbClr val="334155"/>
                </a:solidFill>
              </a:defRPr>
            </a:pPr>
            <a:r>
              <a:t>• Ultrasonic Rangefinder: HC-SR04 (2cm–400cm). 1k/2k divider steps 5V ECHO to safe 3.3V.</a:t>
            </a:r>
            <a:br/>
            <a:r>
              <a:t>• Inertial Measurement: MPU-9250 6/9-DOF I²C IMU tracking angular velocity &amp; chassis tilt.</a:t>
            </a:r>
            <a:br/>
            <a:r>
              <a:t>• Presence Radar: Optional mmWave radar (LD2410, UART/GPIO) for target presence detection.</a:t>
            </a:r>
          </a:p>
        </p:txBody>
      </p:sp>
      <p:sp>
        <p:nvSpPr>
          <p:cNvPr id="10" name="Rounded Rectangle 9"/>
          <p:cNvSpPr/>
          <p:nvPr/>
        </p:nvSpPr>
        <p:spPr>
          <a:xfrm>
            <a:off x="731520" y="3794760"/>
            <a:ext cx="5257800" cy="20116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959352"/>
            <a:ext cx="4800600" cy="1737360"/>
          </a:xfrm>
          <a:prstGeom prst="rect">
            <a:avLst/>
          </a:prstGeom>
          <a:noFill/>
        </p:spPr>
        <p:txBody>
          <a:bodyPr wrap="square">
            <a:spAutoFit/>
          </a:bodyPr>
          <a:lstStyle/>
          <a:p>
            <a:pPr>
              <a:defRPr sz="1300" b="1">
                <a:solidFill>
                  <a:srgbClr val="D97706"/>
                </a:solidFill>
              </a:defRPr>
            </a:pPr>
            <a:r>
              <a:t>GATEWAY &amp; AI COGNITION</a:t>
            </a:r>
          </a:p>
          <a:p>
            <a:br/>
            <a:pPr>
              <a:defRPr sz="1150">
                <a:solidFill>
                  <a:srgbClr val="334155"/>
                </a:solidFill>
              </a:defRPr>
            </a:pPr>
            <a:r>
              <a:t>• Ground Gateway: Python FastAPI asynchronous server handling LoRa serial bridge &amp; logging.</a:t>
            </a:r>
            <a:br/>
            <a:r>
              <a:t>• Cognitive AI: OpenAI GPT-4o Vision API with structured Pydantic JSON schemas (M-001).</a:t>
            </a:r>
            <a:br/>
            <a:r>
              <a:t>• Mission Dashboard: HTML5 Canvas, WebSockets, real-time gauges, and mission timeline.</a:t>
            </a:r>
          </a:p>
        </p:txBody>
      </p:sp>
      <p:sp>
        <p:nvSpPr>
          <p:cNvPr id="12" name="Rounded Rectangle 11"/>
          <p:cNvSpPr/>
          <p:nvPr/>
        </p:nvSpPr>
        <p:spPr>
          <a:xfrm>
            <a:off x="6172200" y="3794760"/>
            <a:ext cx="5257800" cy="201168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959352"/>
            <a:ext cx="4800600" cy="1737360"/>
          </a:xfrm>
          <a:prstGeom prst="rect">
            <a:avLst/>
          </a:prstGeom>
          <a:noFill/>
        </p:spPr>
        <p:txBody>
          <a:bodyPr wrap="square">
            <a:spAutoFit/>
          </a:bodyPr>
          <a:lstStyle/>
          <a:p>
            <a:pPr>
              <a:defRPr sz="1300" b="1">
                <a:solidFill>
                  <a:srgbClr val="E11D48"/>
                </a:solidFill>
              </a:defRPr>
            </a:pPr>
            <a:r>
              <a:t>POWER &amp; PHYSICAL SAFETY</a:t>
            </a:r>
          </a:p>
          <a:p>
            <a:br/>
            <a:pPr>
              <a:defRPr sz="1150">
                <a:solidFill>
                  <a:srgbClr val="334155"/>
                </a:solidFill>
              </a:defRPr>
            </a:pPr>
            <a:r>
              <a:t>• Split-Rail Topology: High-discharge 2S Li-ion battery powers motors independently from logic.</a:t>
            </a:r>
            <a:br/>
            <a:r>
              <a:t>• Voltage Regulation: Low-noise buck converters generating clean 5V (camera) and 3.3V (logic).</a:t>
            </a:r>
            <a:br/>
            <a:r>
              <a:t>• Hardware E-Stop: Physical mushroom switch hardwired to motor enable pins (0ms cutoff).</a:t>
            </a:r>
          </a:p>
        </p:txBody>
      </p:sp>
      <p:sp>
        <p:nvSpPr>
          <p:cNvPr id="14" name="Rounded Rectangle 13"/>
          <p:cNvSpPr/>
          <p:nvPr/>
        </p:nvSpPr>
        <p:spPr>
          <a:xfrm>
            <a:off x="731520" y="5989320"/>
            <a:ext cx="10728655" cy="50292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6016752"/>
            <a:ext cx="10332720" cy="438912"/>
          </a:xfrm>
          <a:prstGeom prst="rect">
            <a:avLst/>
          </a:prstGeom>
          <a:noFill/>
        </p:spPr>
        <p:txBody>
          <a:bodyPr wrap="none">
            <a:spAutoFit/>
          </a:bodyPr>
          <a:lstStyle/>
          <a:p>
            <a:pPr>
              <a:defRPr sz="1100" b="1">
                <a:solidFill>
                  <a:srgbClr val="1D4ED8"/>
                </a:solidFill>
              </a:defRPr>
            </a:pPr>
            <a:r>
              <a:t>HARDWARE INTEGRITY: Built 100% on accessible COTS components. No proprietary chips. Total prototype build is under $135 USD.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VALIDATION &amp; TESTING</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Empirical Lab Bench Test Results (12-Point Suite)</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Systematic verification based on the 12-point project test suite (T-01 to T-12):</a:t>
            </a:r>
          </a:p>
        </p:txBody>
      </p:sp>
      <p:sp>
        <p:nvSpPr>
          <p:cNvPr id="6" name="Rounded Rectangle 5"/>
          <p:cNvSpPr/>
          <p:nvPr/>
        </p:nvSpPr>
        <p:spPr>
          <a:xfrm>
            <a:off x="731520" y="1645920"/>
            <a:ext cx="2560320" cy="19202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3080"/>
            <a:ext cx="2286000" cy="1645920"/>
          </a:xfrm>
          <a:prstGeom prst="rect">
            <a:avLst/>
          </a:prstGeom>
          <a:noFill/>
        </p:spPr>
        <p:txBody>
          <a:bodyPr wrap="square">
            <a:spAutoFit/>
          </a:bodyPr>
          <a:lstStyle/>
          <a:p>
            <a:pPr>
              <a:defRPr sz="3600" b="1">
                <a:solidFill>
                  <a:srgbClr val="059669"/>
                </a:solidFill>
              </a:defRPr>
            </a:pPr>
            <a:r>
              <a:t>28 cm</a:t>
            </a:r>
          </a:p>
          <a:p>
            <a:pPr>
              <a:defRPr sz="1200" b="1">
                <a:solidFill>
                  <a:srgbClr val="0F172A"/>
                </a:solidFill>
              </a:defRPr>
            </a:pPr>
            <a:r>
              <a:t>Obstacle Stop Distance</a:t>
            </a:r>
          </a:p>
          <a:p>
            <a:pPr>
              <a:defRPr sz="1050">
                <a:solidFill>
                  <a:srgbClr val="64748B"/>
                </a:solidFill>
              </a:defRPr>
            </a:pPr>
            <a:r>
              <a:t>Measured braking margin at 0.3 m/s approach speed against flat barrier. (Test T-03)</a:t>
            </a:r>
          </a:p>
        </p:txBody>
      </p:sp>
      <p:sp>
        <p:nvSpPr>
          <p:cNvPr id="8" name="Rounded Rectangle 7"/>
          <p:cNvSpPr/>
          <p:nvPr/>
        </p:nvSpPr>
        <p:spPr>
          <a:xfrm>
            <a:off x="3429000" y="1645920"/>
            <a:ext cx="2560320" cy="192024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1783080"/>
            <a:ext cx="2286000" cy="1645920"/>
          </a:xfrm>
          <a:prstGeom prst="rect">
            <a:avLst/>
          </a:prstGeom>
          <a:noFill/>
        </p:spPr>
        <p:txBody>
          <a:bodyPr wrap="square">
            <a:spAutoFit/>
          </a:bodyPr>
          <a:lstStyle/>
          <a:p>
            <a:pPr>
              <a:defRPr sz="3600" b="1">
                <a:solidFill>
                  <a:srgbClr val="1D4ED8"/>
                </a:solidFill>
              </a:defRPr>
            </a:pPr>
            <a:r>
              <a:t>0 ms</a:t>
            </a:r>
          </a:p>
          <a:p>
            <a:pPr>
              <a:defRPr sz="1200" b="1">
                <a:solidFill>
                  <a:srgbClr val="0F172A"/>
                </a:solidFill>
              </a:defRPr>
            </a:pPr>
            <a:r>
              <a:t>Hardware E-Stop Cutoff</a:t>
            </a:r>
          </a:p>
          <a:p>
            <a:pPr>
              <a:defRPr sz="1050">
                <a:solidFill>
                  <a:srgbClr val="64748B"/>
                </a:solidFill>
              </a:defRPr>
            </a:pPr>
            <a:r>
              <a:t>Instantaneous motor driver disable via hardwired switch. (Test T-02)</a:t>
            </a:r>
          </a:p>
        </p:txBody>
      </p:sp>
      <p:sp>
        <p:nvSpPr>
          <p:cNvPr id="10" name="Rounded Rectangle 9"/>
          <p:cNvSpPr/>
          <p:nvPr/>
        </p:nvSpPr>
        <p:spPr>
          <a:xfrm>
            <a:off x="6126480" y="1645920"/>
            <a:ext cx="2560320" cy="192024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3640" y="1783080"/>
            <a:ext cx="2286000" cy="1645920"/>
          </a:xfrm>
          <a:prstGeom prst="rect">
            <a:avLst/>
          </a:prstGeom>
          <a:noFill/>
        </p:spPr>
        <p:txBody>
          <a:bodyPr wrap="square">
            <a:spAutoFit/>
          </a:bodyPr>
          <a:lstStyle/>
          <a:p>
            <a:pPr>
              <a:defRPr sz="3600" b="1">
                <a:solidFill>
                  <a:srgbClr val="0284C7"/>
                </a:solidFill>
              </a:defRPr>
            </a:pPr>
            <a:r>
              <a:t>&gt; 98%</a:t>
            </a:r>
          </a:p>
          <a:p>
            <a:pPr>
              <a:defRPr sz="1200" b="1">
                <a:solidFill>
                  <a:srgbClr val="0F172A"/>
                </a:solidFill>
              </a:defRPr>
            </a:pPr>
            <a:r>
              <a:t>LoRa Packet Delivery</a:t>
            </a:r>
          </a:p>
          <a:p>
            <a:pPr>
              <a:defRPr sz="1050">
                <a:solidFill>
                  <a:srgbClr val="64748B"/>
                </a:solidFill>
              </a:defRPr>
            </a:pPr>
            <a:r>
              <a:t>100-packet framed burst ratio across multi-wall indoor barriers. (Test T-05)</a:t>
            </a:r>
          </a:p>
        </p:txBody>
      </p:sp>
      <p:sp>
        <p:nvSpPr>
          <p:cNvPr id="12" name="Rounded Rectangle 11"/>
          <p:cNvSpPr/>
          <p:nvPr/>
        </p:nvSpPr>
        <p:spPr>
          <a:xfrm>
            <a:off x="8823960" y="1645920"/>
            <a:ext cx="2560320" cy="192024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0" y="1783080"/>
            <a:ext cx="2286000" cy="1645920"/>
          </a:xfrm>
          <a:prstGeom prst="rect">
            <a:avLst/>
          </a:prstGeom>
          <a:noFill/>
        </p:spPr>
        <p:txBody>
          <a:bodyPr wrap="square">
            <a:spAutoFit/>
          </a:bodyPr>
          <a:lstStyle/>
          <a:p>
            <a:pPr>
              <a:defRPr sz="3600" b="1">
                <a:solidFill>
                  <a:srgbClr val="D97706"/>
                </a:solidFill>
              </a:defRPr>
            </a:pPr>
            <a:r>
              <a:t>&lt; 1.0 s</a:t>
            </a:r>
          </a:p>
          <a:p>
            <a:pPr>
              <a:defRPr sz="1200" b="1">
                <a:solidFill>
                  <a:srgbClr val="0F172A"/>
                </a:solidFill>
              </a:defRPr>
            </a:pPr>
            <a:r>
              <a:t>Command Freshness Lease</a:t>
            </a:r>
          </a:p>
          <a:p>
            <a:pPr>
              <a:defRPr sz="1050">
                <a:solidFill>
                  <a:srgbClr val="64748B"/>
                </a:solidFill>
              </a:defRPr>
            </a:pPr>
            <a:r>
              <a:t>Motors safely braked to stop when command transmission ceased. (Test T-06)</a:t>
            </a:r>
          </a:p>
        </p:txBody>
      </p:sp>
      <p:sp>
        <p:nvSpPr>
          <p:cNvPr id="14" name="Rounded Rectangle 13"/>
          <p:cNvSpPr/>
          <p:nvPr/>
        </p:nvSpPr>
        <p:spPr>
          <a:xfrm>
            <a:off x="731520" y="3749039"/>
            <a:ext cx="5257800" cy="914400"/>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822191"/>
            <a:ext cx="4892040" cy="777240"/>
          </a:xfrm>
          <a:prstGeom prst="rect">
            <a:avLst/>
          </a:prstGeom>
          <a:noFill/>
        </p:spPr>
        <p:txBody>
          <a:bodyPr wrap="square">
            <a:spAutoFit/>
          </a:bodyPr>
          <a:lstStyle/>
          <a:p>
            <a:pPr>
              <a:defRPr sz="1100" b="1">
                <a:solidFill>
                  <a:srgbClr val="059669"/>
                </a:solidFill>
              </a:defRPr>
            </a:pPr>
            <a:r>
              <a:t>[PASSED]  T-01: MOTOR BENCH TEST</a:t>
            </a:r>
          </a:p>
          <a:p>
            <a:pPr>
              <a:defRPr sz="1050">
                <a:solidFill>
                  <a:srgbClr val="334155"/>
                </a:solidFill>
              </a:defRPr>
            </a:pPr>
            <a:r>
              <a:t>Wheels lifted, forward/reverse tested at 100% PWM. Zero MCU brownout resets observed under peak startup surges.</a:t>
            </a:r>
          </a:p>
        </p:txBody>
      </p:sp>
      <p:sp>
        <p:nvSpPr>
          <p:cNvPr id="16" name="Rounded Rectangle 15"/>
          <p:cNvSpPr/>
          <p:nvPr/>
        </p:nvSpPr>
        <p:spPr>
          <a:xfrm>
            <a:off x="6172200" y="3749039"/>
            <a:ext cx="5257800" cy="914400"/>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3822191"/>
            <a:ext cx="4892040" cy="777240"/>
          </a:xfrm>
          <a:prstGeom prst="rect">
            <a:avLst/>
          </a:prstGeom>
          <a:noFill/>
        </p:spPr>
        <p:txBody>
          <a:bodyPr wrap="square">
            <a:spAutoFit/>
          </a:bodyPr>
          <a:lstStyle/>
          <a:p>
            <a:pPr>
              <a:defRPr sz="1100" b="1">
                <a:solidFill>
                  <a:srgbClr val="059669"/>
                </a:solidFill>
              </a:defRPr>
            </a:pPr>
            <a:r>
              <a:t>[PASSED]  T-04: SENSOR INTEGRITY</a:t>
            </a:r>
          </a:p>
          <a:p>
            <a:pPr>
              <a:defRPr sz="1050">
                <a:solidFill>
                  <a:srgbClr val="334155"/>
                </a:solidFill>
              </a:defRPr>
            </a:pPr>
            <a:r>
              <a:t>Ultrasonic echo wire disconnected during active drive. Rover halted immediately and latched SAFE_STOP.</a:t>
            </a:r>
          </a:p>
        </p:txBody>
      </p:sp>
      <p:sp>
        <p:nvSpPr>
          <p:cNvPr id="18" name="Rounded Rectangle 17"/>
          <p:cNvSpPr/>
          <p:nvPr/>
        </p:nvSpPr>
        <p:spPr>
          <a:xfrm>
            <a:off x="731520" y="4754879"/>
            <a:ext cx="5257800" cy="914400"/>
          </a:xfrm>
          <a:prstGeom prst="roundRect">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28031"/>
            <a:ext cx="4892040" cy="777240"/>
          </a:xfrm>
          <a:prstGeom prst="rect">
            <a:avLst/>
          </a:prstGeom>
          <a:noFill/>
        </p:spPr>
        <p:txBody>
          <a:bodyPr wrap="square">
            <a:spAutoFit/>
          </a:bodyPr>
          <a:lstStyle/>
          <a:p>
            <a:pPr>
              <a:defRPr sz="1100" b="1">
                <a:solidFill>
                  <a:srgbClr val="1D4ED8"/>
                </a:solidFill>
              </a:defRPr>
            </a:pPr>
            <a:r>
              <a:t>[VERIFIED]  T-08: WI-FI SEVERING TEST</a:t>
            </a:r>
          </a:p>
          <a:p>
            <a:pPr>
              <a:defRPr sz="1050">
                <a:solidFill>
                  <a:srgbClr val="334155"/>
                </a:solidFill>
              </a:defRPr>
            </a:pPr>
            <a:r>
              <a:t>Wi-Fi router powered off during video streaming. Video paused, while LoRa telemetry &amp; control remained 100% active.</a:t>
            </a:r>
          </a:p>
        </p:txBody>
      </p:sp>
      <p:sp>
        <p:nvSpPr>
          <p:cNvPr id="20" name="Rounded Rectangle 19"/>
          <p:cNvSpPr/>
          <p:nvPr/>
        </p:nvSpPr>
        <p:spPr>
          <a:xfrm>
            <a:off x="6172200" y="4754879"/>
            <a:ext cx="5257800" cy="914400"/>
          </a:xfrm>
          <a:prstGeom prst="roundRect">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4828031"/>
            <a:ext cx="4892040" cy="777240"/>
          </a:xfrm>
          <a:prstGeom prst="rect">
            <a:avLst/>
          </a:prstGeom>
          <a:noFill/>
        </p:spPr>
        <p:txBody>
          <a:bodyPr wrap="square">
            <a:spAutoFit/>
          </a:bodyPr>
          <a:lstStyle/>
          <a:p>
            <a:pPr>
              <a:defRPr sz="1100" b="1">
                <a:solidFill>
                  <a:srgbClr val="1D4ED8"/>
                </a:solidFill>
              </a:defRPr>
            </a:pPr>
            <a:r>
              <a:t>[VERIFIED]  T-10: SCHEMA DEFENSE</a:t>
            </a:r>
          </a:p>
          <a:p>
            <a:pPr>
              <a:defRPr sz="1050">
                <a:solidFill>
                  <a:srgbClr val="334155"/>
                </a:solidFill>
              </a:defRPr>
            </a:pPr>
            <a:r>
              <a:t>Injected malformed JSON and out-of-bounds speed values. Gateway and firmware rejected rogue commands with zero actuation.</a:t>
            </a:r>
          </a:p>
        </p:txBody>
      </p:sp>
      <p:sp>
        <p:nvSpPr>
          <p:cNvPr id="22" name="Rounded Rectangle 21"/>
          <p:cNvSpPr/>
          <p:nvPr/>
        </p:nvSpPr>
        <p:spPr>
          <a:xfrm>
            <a:off x="731520" y="5897880"/>
            <a:ext cx="10728655" cy="594360"/>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925312"/>
            <a:ext cx="10332720" cy="502920"/>
          </a:xfrm>
          <a:prstGeom prst="rect">
            <a:avLst/>
          </a:prstGeom>
          <a:noFill/>
        </p:spPr>
        <p:txBody>
          <a:bodyPr wrap="none">
            <a:spAutoFit/>
          </a:bodyPr>
          <a:lstStyle/>
          <a:p>
            <a:pPr>
              <a:defRPr sz="1050" b="1">
                <a:solidFill>
                  <a:srgbClr val="059669"/>
                </a:solidFill>
              </a:defRPr>
            </a:pPr>
            <a:r>
              <a:t>EMPIRICAL RIGOR: All values above reflect actual laboratory bench tests on our physical hardware. We clearly separate bench-verified results from future outdoor field goals.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REAL-WORLD IMPACT</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Target Deployment Sectors &amp; Human Safety</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Replacing dangerous human physical entry with expendable, high-resilience autonomous scouts:</a:t>
            </a:r>
          </a:p>
        </p:txBody>
      </p:sp>
      <p:sp>
        <p:nvSpPr>
          <p:cNvPr id="6" name="Rounded Rectangle 5"/>
          <p:cNvSpPr/>
          <p:nvPr/>
        </p:nvSpPr>
        <p:spPr>
          <a:xfrm>
            <a:off x="731520" y="1645920"/>
            <a:ext cx="5257800" cy="201168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10512"/>
            <a:ext cx="4800600" cy="1737360"/>
          </a:xfrm>
          <a:prstGeom prst="rect">
            <a:avLst/>
          </a:prstGeom>
          <a:noFill/>
        </p:spPr>
        <p:txBody>
          <a:bodyPr wrap="square">
            <a:spAutoFit/>
          </a:bodyPr>
          <a:lstStyle/>
          <a:p>
            <a:pPr>
              <a:defRPr sz="1300" b="1">
                <a:solidFill>
                  <a:srgbClr val="E11D48"/>
                </a:solidFill>
              </a:defRPr>
            </a:pPr>
            <a:r>
              <a:t>SEARCH &amp; RESCUE IN COLLAPSED RUINS</a:t>
            </a:r>
          </a:p>
          <a:p>
            <a:br/>
            <a:pPr>
              <a:defRPr sz="1200">
                <a:solidFill>
                  <a:srgbClr val="334155"/>
                </a:solidFill>
              </a:defRPr>
            </a:pPr>
            <a:r>
              <a:t>• Structural rubble rapidly blocks 2.4 GHz Wi-Fi within meters.</a:t>
            </a:r>
            <a:br/>
            <a:r>
              <a:t>• AURA-X penetrates sub-surface voids using 433 MHz LoRa, scouting for survivors and gas leaks before human rescue teams risk entry.</a:t>
            </a:r>
          </a:p>
        </p:txBody>
      </p:sp>
      <p:sp>
        <p:nvSpPr>
          <p:cNvPr id="8" name="Rounded Rectangle 7"/>
          <p:cNvSpPr/>
          <p:nvPr/>
        </p:nvSpPr>
        <p:spPr>
          <a:xfrm>
            <a:off x="6172200" y="1645920"/>
            <a:ext cx="5257800" cy="20116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10512"/>
            <a:ext cx="4800600" cy="1737360"/>
          </a:xfrm>
          <a:prstGeom prst="rect">
            <a:avLst/>
          </a:prstGeom>
          <a:noFill/>
        </p:spPr>
        <p:txBody>
          <a:bodyPr wrap="square">
            <a:spAutoFit/>
          </a:bodyPr>
          <a:lstStyle/>
          <a:p>
            <a:pPr>
              <a:defRPr sz="1300" b="1">
                <a:solidFill>
                  <a:srgbClr val="D97706"/>
                </a:solidFill>
              </a:defRPr>
            </a:pPr>
            <a:r>
              <a:t>HAZARDOUS INDUSTRIAL DUCT AUDITING</a:t>
            </a:r>
          </a:p>
          <a:p>
            <a:br/>
            <a:pPr>
              <a:defRPr sz="1200">
                <a:solidFill>
                  <a:srgbClr val="334155"/>
                </a:solidFill>
              </a:defRPr>
            </a:pPr>
            <a:r>
              <a:t>• Chemical plants and refineries contain toxic conduits and confined spaces.</a:t>
            </a:r>
            <a:br/>
            <a:r>
              <a:t>• AURA-X replaces dangerous human physical entry with remote camera inspection and environmental sensing.</a:t>
            </a:r>
          </a:p>
        </p:txBody>
      </p:sp>
      <p:sp>
        <p:nvSpPr>
          <p:cNvPr id="10" name="Rounded Rectangle 9"/>
          <p:cNvSpPr/>
          <p:nvPr/>
        </p:nvSpPr>
        <p:spPr>
          <a:xfrm>
            <a:off x="731520" y="3794760"/>
            <a:ext cx="5257800" cy="201168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959352"/>
            <a:ext cx="4800600" cy="1737360"/>
          </a:xfrm>
          <a:prstGeom prst="rect">
            <a:avLst/>
          </a:prstGeom>
          <a:noFill/>
        </p:spPr>
        <p:txBody>
          <a:bodyPr wrap="square">
            <a:spAutoFit/>
          </a:bodyPr>
          <a:lstStyle/>
          <a:p>
            <a:pPr>
              <a:defRPr sz="1300" b="1">
                <a:solidFill>
                  <a:srgbClr val="1D4ED8"/>
                </a:solidFill>
              </a:defRPr>
            </a:pPr>
            <a:r>
              <a:t>SUBTERRANEAN UTILITIES &amp; CULVERTS</a:t>
            </a:r>
          </a:p>
          <a:p>
            <a:br/>
            <a:pPr>
              <a:defRPr sz="1200">
                <a:solidFill>
                  <a:srgbClr val="334155"/>
                </a:solidFill>
              </a:defRPr>
            </a:pPr>
            <a:r>
              <a:t>• Stormwater culverts and municipal sewers suffer complete GPS blackout and zero cellular coverage.</a:t>
            </a:r>
            <a:br/>
            <a:r>
              <a:t>• AURA-X conducts autonomous reactive inspection with video snapshot logging.</a:t>
            </a:r>
          </a:p>
        </p:txBody>
      </p:sp>
      <p:sp>
        <p:nvSpPr>
          <p:cNvPr id="12" name="Rounded Rectangle 11"/>
          <p:cNvSpPr/>
          <p:nvPr/>
        </p:nvSpPr>
        <p:spPr>
          <a:xfrm>
            <a:off x="6172200" y="3794760"/>
            <a:ext cx="5257800" cy="201168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959352"/>
            <a:ext cx="4800600" cy="1737360"/>
          </a:xfrm>
          <a:prstGeom prst="rect">
            <a:avLst/>
          </a:prstGeom>
          <a:noFill/>
        </p:spPr>
        <p:txBody>
          <a:bodyPr wrap="square">
            <a:spAutoFit/>
          </a:bodyPr>
          <a:lstStyle/>
          <a:p>
            <a:pPr>
              <a:defRPr sz="1300" b="1">
                <a:solidFill>
                  <a:srgbClr val="059669"/>
                </a:solidFill>
              </a:defRPr>
            </a:pPr>
            <a:r>
              <a:t>PRECISION AGRICULTURE &amp; CANOPY PATROLS</a:t>
            </a:r>
          </a:p>
          <a:p>
            <a:br/>
            <a:pPr>
              <a:defRPr sz="1200">
                <a:solidFill>
                  <a:srgbClr val="334155"/>
                </a:solidFill>
              </a:defRPr>
            </a:pPr>
            <a:r>
              <a:t>• Sprawling acreage lacks ubiquitous Wi-Fi or 5G coverage.</a:t>
            </a:r>
            <a:br/>
            <a:r>
              <a:t>• AURA-X patrols crop furrows autonomously, transmitting micro-climate telemetry over long-range LoRa links to a central farm gateway.</a:t>
            </a:r>
          </a:p>
        </p:txBody>
      </p:sp>
      <p:sp>
        <p:nvSpPr>
          <p:cNvPr id="14" name="Rounded Rectangle 13"/>
          <p:cNvSpPr/>
          <p:nvPr/>
        </p:nvSpPr>
        <p:spPr>
          <a:xfrm>
            <a:off x="731520" y="5989320"/>
            <a:ext cx="10728655" cy="50292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6016752"/>
            <a:ext cx="10332720" cy="438912"/>
          </a:xfrm>
          <a:prstGeom prst="rect">
            <a:avLst/>
          </a:prstGeom>
          <a:noFill/>
        </p:spPr>
        <p:txBody>
          <a:bodyPr wrap="none">
            <a:spAutoFit/>
          </a:bodyPr>
          <a:lstStyle/>
          <a:p>
            <a:pPr>
              <a:defRPr sz="1100" b="1">
                <a:solidFill>
                  <a:srgbClr val="1D4ED8"/>
                </a:solidFill>
              </a:defRPr>
            </a:pPr>
            <a:r>
              <a:t>FIELD SCALABILITY: Built entirely from standard COTS parts, enabling emergency response departments to deploy multi-agent scout swarms at 1/100th the cost of legacy robots.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292608"/>
          </a:xfrm>
          <a:prstGeom prst="rect">
            <a:avLst/>
          </a:prstGeom>
          <a:noFill/>
        </p:spPr>
        <p:txBody>
          <a:bodyPr wrap="square" lIns="0" tIns="0" rIns="0" bIns="0">
            <a:spAutoFit/>
          </a:bodyPr>
          <a:lstStyle/>
          <a:p>
            <a:pPr>
              <a:defRPr sz="1100" b="1">
                <a:solidFill>
                  <a:srgbClr val="1D4ED8"/>
                </a:solidFill>
                <a:latin typeface="Arial"/>
              </a:defRPr>
            </a:pPr>
            <a:r>
              <a:t>GRAND FINALE</a:t>
            </a:r>
          </a:p>
        </p:txBody>
      </p:sp>
      <p:sp>
        <p:nvSpPr>
          <p:cNvPr id="4" name="TextBox 3"/>
          <p:cNvSpPr txBox="1"/>
          <p:nvPr/>
        </p:nvSpPr>
        <p:spPr>
          <a:xfrm>
            <a:off x="731520" y="658368"/>
            <a:ext cx="10728655" cy="502920"/>
          </a:xfrm>
          <a:prstGeom prst="rect">
            <a:avLst/>
          </a:prstGeom>
          <a:noFill/>
        </p:spPr>
        <p:txBody>
          <a:bodyPr wrap="square" lIns="0" tIns="0" rIns="0" bIns="0">
            <a:spAutoFit/>
          </a:bodyPr>
          <a:lstStyle/>
          <a:p>
            <a:pPr>
              <a:defRPr sz="2600" b="1">
                <a:solidFill>
                  <a:srgbClr val="0F172A"/>
                </a:solidFill>
                <a:latin typeface="Arial"/>
              </a:defRPr>
            </a:pPr>
            <a:r>
              <a:t>Why AURA-X Deserves to Win This Hackathon</a:t>
            </a:r>
          </a:p>
        </p:txBody>
      </p:sp>
      <p:sp>
        <p:nvSpPr>
          <p:cNvPr id="5" name="TextBox 4"/>
          <p:cNvSpPr txBox="1"/>
          <p:nvPr/>
        </p:nvSpPr>
        <p:spPr>
          <a:xfrm>
            <a:off x="731520" y="1170432"/>
            <a:ext cx="10728655" cy="320040"/>
          </a:xfrm>
          <a:prstGeom prst="rect">
            <a:avLst/>
          </a:prstGeom>
          <a:noFill/>
        </p:spPr>
        <p:txBody>
          <a:bodyPr wrap="square" lIns="0" tIns="0" rIns="0" bIns="0">
            <a:spAutoFit/>
          </a:bodyPr>
          <a:lstStyle/>
          <a:p>
            <a:pPr>
              <a:defRPr sz="1300">
                <a:solidFill>
                  <a:srgbClr val="64748B"/>
                </a:solidFill>
                <a:latin typeface="Arial"/>
              </a:defRPr>
            </a:pPr>
            <a:r>
              <a:t>Solving the fundamental safety challenge of modern robotics through disciplined systems engineering:</a:t>
            </a:r>
          </a:p>
        </p:txBody>
      </p:sp>
      <p:sp>
        <p:nvSpPr>
          <p:cNvPr id="6" name="Rounded Rectangle 5"/>
          <p:cNvSpPr/>
          <p:nvPr/>
        </p:nvSpPr>
        <p:spPr>
          <a:xfrm>
            <a:off x="731520" y="1645920"/>
            <a:ext cx="3474720" cy="320040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28800"/>
            <a:ext cx="3017520" cy="2834640"/>
          </a:xfrm>
          <a:prstGeom prst="rect">
            <a:avLst/>
          </a:prstGeom>
          <a:noFill/>
        </p:spPr>
        <p:txBody>
          <a:bodyPr wrap="square">
            <a:spAutoFit/>
          </a:bodyPr>
          <a:lstStyle/>
          <a:p>
            <a:pPr>
              <a:defRPr sz="1400" b="1">
                <a:solidFill>
                  <a:srgbClr val="1D4ED8"/>
                </a:solidFill>
              </a:defRPr>
            </a:pPr>
            <a:r>
              <a:t>SOUND EMBEDDED DISCIPLINE</a:t>
            </a:r>
          </a:p>
          <a:p>
            <a:br/>
            <a:pPr>
              <a:defRPr sz="1200">
                <a:solidFill>
                  <a:srgbClr val="334155"/>
                </a:solidFill>
              </a:defRPr>
            </a:pPr>
            <a:r>
              <a:t>• Not a fragile toy demo.</a:t>
            </a:r>
            <a:br/>
            <a:r>
              <a:t>• Built on proven embedded fundamentals: FreeRTOS task separation, split-rail power isolation, level-shifted signal paths, and zero-latency hardware stops.</a:t>
            </a:r>
            <a:br/>
            <a:r>
              <a:t>• Every pin constraint and packet byte is validated.</a:t>
            </a:r>
          </a:p>
        </p:txBody>
      </p:sp>
      <p:sp>
        <p:nvSpPr>
          <p:cNvPr id="8" name="Rounded Rectangle 7"/>
          <p:cNvSpPr/>
          <p:nvPr/>
        </p:nvSpPr>
        <p:spPr>
          <a:xfrm>
            <a:off x="4343400" y="1645920"/>
            <a:ext cx="3474720" cy="320040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2834640"/>
          </a:xfrm>
          <a:prstGeom prst="rect">
            <a:avLst/>
          </a:prstGeom>
          <a:noFill/>
        </p:spPr>
        <p:txBody>
          <a:bodyPr wrap="square">
            <a:spAutoFit/>
          </a:bodyPr>
          <a:lstStyle/>
          <a:p>
            <a:pPr>
              <a:defRPr sz="1400" b="1">
                <a:solidFill>
                  <a:srgbClr val="059669"/>
                </a:solidFill>
              </a:defRPr>
            </a:pPr>
            <a:r>
              <a:t>ARCHITECTURAL BREAKTHROUGH</a:t>
            </a:r>
          </a:p>
          <a:p>
            <a:br/>
            <a:pPr>
              <a:defRPr sz="1200">
                <a:solidFill>
                  <a:srgbClr val="334155"/>
                </a:solidFill>
              </a:defRPr>
            </a:pPr>
            <a:r>
              <a:t>• Solves the dangerous trade-off between modern generative AI and physical robot safety.</a:t>
            </a:r>
            <a:br/>
            <a:r>
              <a:t>• The cloud provides high-level cognitive inspection, while onboard firmware enforces deterministic physical boundaries over dual-band RF links.</a:t>
            </a:r>
          </a:p>
        </p:txBody>
      </p:sp>
      <p:sp>
        <p:nvSpPr>
          <p:cNvPr id="10" name="Rounded Rectangle 9"/>
          <p:cNvSpPr/>
          <p:nvPr/>
        </p:nvSpPr>
        <p:spPr>
          <a:xfrm>
            <a:off x="7955280" y="1645920"/>
            <a:ext cx="3474720" cy="32004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1828800"/>
            <a:ext cx="3017520" cy="2834640"/>
          </a:xfrm>
          <a:prstGeom prst="rect">
            <a:avLst/>
          </a:prstGeom>
          <a:noFill/>
        </p:spPr>
        <p:txBody>
          <a:bodyPr wrap="square">
            <a:spAutoFit/>
          </a:bodyPr>
          <a:lstStyle/>
          <a:p>
            <a:pPr>
              <a:defRPr sz="1400" b="1">
                <a:solidFill>
                  <a:srgbClr val="D97706"/>
                </a:solidFill>
              </a:defRPr>
            </a:pPr>
            <a:r>
              <a:t>TACTICAL &amp; HUMAN IMPACT</a:t>
            </a:r>
          </a:p>
          <a:p>
            <a:br/>
            <a:pPr>
              <a:defRPr sz="1200">
                <a:solidFill>
                  <a:srgbClr val="334155"/>
                </a:solidFill>
              </a:defRPr>
            </a:pPr>
            <a:r>
              <a:t>• Built from accessible COTS hardware (&lt;$135 USD), ready to replace human personnel in life-threatening subterranean, industrial, and disaster reconnaissance.</a:t>
            </a:r>
            <a:br/>
            <a:r>
              <a:t>• Enables multi-agent swarm deployments.</a:t>
            </a:r>
          </a:p>
        </p:txBody>
      </p:sp>
      <p:sp>
        <p:nvSpPr>
          <p:cNvPr id="12" name="Rounded Rectangle 11"/>
          <p:cNvSpPr/>
          <p:nvPr/>
        </p:nvSpPr>
        <p:spPr>
          <a:xfrm>
            <a:off x="731520" y="4983480"/>
            <a:ext cx="10728655" cy="146304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74920"/>
            <a:ext cx="10332720" cy="1280160"/>
          </a:xfrm>
          <a:prstGeom prst="rect">
            <a:avLst/>
          </a:prstGeom>
          <a:noFill/>
        </p:spPr>
        <p:txBody>
          <a:bodyPr wrap="square">
            <a:spAutoFit/>
          </a:bodyPr>
          <a:lstStyle/>
          <a:p>
            <a:pPr>
              <a:defRPr sz="1300" b="1">
                <a:solidFill>
                  <a:srgbClr val="1D4ED8"/>
                </a:solidFill>
              </a:defRPr>
            </a:pPr>
            <a:r>
              <a:t>PROVEN FAULT-TOLERANCE.  •  DUAL-BAND RESILIENCE.  •  BOUNDED COGNITIVE AI.</a:t>
            </a:r>
          </a:p>
          <a:p>
            <a:pPr>
              <a:defRPr sz="1500" b="1">
                <a:solidFill>
                  <a:srgbClr val="0F172A"/>
                </a:solidFill>
              </a:defRPr>
            </a:pPr>
            <a:r>
              <a:t>Thank you, judges! We look forward to your questions.</a:t>
            </a:r>
          </a:p>
          <a:p>
            <a:pPr>
              <a:defRPr sz="1200" b="1">
                <a:solidFill>
                  <a:srgbClr val="1D4ED8"/>
                </a:solidFill>
              </a:defRPr>
            </a:pPr>
            <a:r>
              <a:t>Team: Soham Vinchu  |  Nishita Patil  |  Vedant Mali  |  Bhakti Sonawane</a:t>
            </a:r>
          </a:p>
          <a:p>
            <a:pPr>
              <a:defRPr sz="1050">
                <a:solidFill>
                  <a:srgbClr val="64748B"/>
                </a:solidFill>
              </a:defRPr>
            </a:pPr>
            <a:r>
              <a:t>Open Source Firmware &amp; Schematics Repository  |  Full Technical Reference Report [References 1-7 Attached]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